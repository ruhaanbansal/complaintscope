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88952" cy="64008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ComplaintScope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8D4F0"/>
                </a:solidFill>
                <a:latin typeface="Calibri"/>
              </a:rPr>
              <a:t>An End-to-End Text, Topic &amp; Network Analytics System
for Consumer-Complaint Triage and Systemic Risk Early Warning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2651760"/>
            <a:ext cx="8897112" cy="3337560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27889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3B6B"/>
                </a:solidFill>
                <a:latin typeface="Calibri"/>
              </a:rPr>
              <a:t>Course: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7889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CBS3009 – Advanced Social, Text and Media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26440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3B6B"/>
                </a:solidFill>
                <a:latin typeface="Calibri"/>
              </a:rPr>
              <a:t>Team: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26440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Ruhaan Bansal (23BBS0046)  |  Vedant Rajesh (23BBS0037)  |  Anish Desai (23BBS0119)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739896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3B6B"/>
                </a:solidFill>
                <a:latin typeface="Calibri"/>
              </a:rPr>
              <a:t>Faculty: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739896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Prof. Sathish Kumar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215383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3B6B"/>
                </a:solidFill>
                <a:latin typeface="Calibri"/>
              </a:rPr>
              <a:t>Institute: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215383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Vellore Institute of Technology (VIT), Vellore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6908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3B6B"/>
                </a:solidFill>
                <a:latin typeface="Calibri"/>
              </a:rPr>
              <a:t>Date: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69087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October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1663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3B6B"/>
                </a:solidFill>
                <a:latin typeface="Calibri"/>
              </a:rPr>
              <a:t>Marks: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51663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20 Marks — CO5 &amp; CO6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Presentation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A structured walkthrough from problem to deployed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5641848" cy="932688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8BC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1673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6B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7556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Why does this project exist?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1261872"/>
            <a:ext cx="5641848" cy="932688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30759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8BC8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6" y="131673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6B"/>
                </a:solidFill>
                <a:latin typeface="Calibri"/>
              </a:rPr>
              <a:t>Dataset &amp; 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17556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CFPB data, filtering, preprocessing, feature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40863"/>
            <a:ext cx="5641848" cy="932688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386583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8BC8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395727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6B"/>
                </a:solidFill>
                <a:latin typeface="Calibri"/>
              </a:rPr>
              <a:t>Component 1: Product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8346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9-class triage system — Models, Results, Drift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2340863"/>
            <a:ext cx="5641848" cy="932688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386583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8BC8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2395727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6B"/>
                </a:solidFill>
                <a:latin typeface="Calibri"/>
              </a:rPr>
              <a:t>Component 2: Relief-Risk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6" y="28346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Probability scoring &amp; triage queue simulation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19856"/>
            <a:ext cx="5641848" cy="932688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465575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8BC8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474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6B"/>
                </a:solidFill>
                <a:latin typeface="Calibri"/>
              </a:rPr>
              <a:t>Component 3a: Topic 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913631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LDA vs NMF vs K-Means — coherence sweep &amp; themes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1928" y="3419856"/>
            <a:ext cx="5641848" cy="932688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3465575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8BC8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1736" y="3474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6B"/>
                </a:solidFill>
                <a:latin typeface="Calibri"/>
              </a:rPr>
              <a:t>Component 3b: Burst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31736" y="3913631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Dual-engine early-warning system — CUSUM &amp; Z-Score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498848"/>
            <a:ext cx="5641848" cy="932688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44568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8BC8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4553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6B"/>
                </a:solidFill>
                <a:latin typeface="Calibri"/>
              </a:rPr>
              <a:t>Components 4 &amp; 5: Network &amp; SRI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499262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Institutional risk network &amp; Systemic Risk Index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1928" y="4498848"/>
            <a:ext cx="5641848" cy="932688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4544568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8BC8"/>
                </a:solidFill>
                <a:latin typeface="Calibr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31736" y="4553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6B"/>
                </a:solidFill>
                <a:latin typeface="Calibri"/>
              </a:rPr>
              <a:t>Results, Discussion &amp; Conclusions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1736" y="499262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Key findings, limitations, future 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577840"/>
            <a:ext cx="5641848" cy="932688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23559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8BC8"/>
                </a:solidFill>
                <a:latin typeface="Calibr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5632703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6B"/>
                </a:solidFill>
                <a:latin typeface="Calibri"/>
              </a:rPr>
              <a:t>Interactive Dashboard &amp; 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607161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Streamlit 5-page app demo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81928" y="5577840"/>
            <a:ext cx="5641848" cy="932688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5623559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8BC8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31736" y="5632703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6B"/>
                </a:solidFill>
                <a:latin typeface="Calibri"/>
              </a:rPr>
              <a:t>References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1736" y="607161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Academic sources and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The CFPB receives 5,000–10,000 consumer financial complaints every weekday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"/>
              </a:rPr>
              <a:t>The US Consumer Financial Protection Bureau (CFPB) maintains the world's largest public database of financial grievances. Consumer narratives within this database encode critical regulatory intelligence — yet manual triage at this scale is impossible. Four critical bottlenecks demand automation: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93392"/>
            <a:ext cx="11430000" cy="960120"/>
          </a:xfrm>
          <a:prstGeom prst="rect">
            <a:avLst/>
          </a:prstGeom>
          <a:solidFill>
            <a:srgbClr val="E8F4FD"/>
          </a:solidFill>
          <a:ln w="1905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B6B"/>
                </a:solidFill>
                <a:latin typeface="Calibri"/>
              </a:rPr>
              <a:t>🗂️  Triage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5,000–10,000 complaints arrive daily. Manual routing to product specialists takes 3–8 min each, is inconsistent across reviewers, and error-prone at category boundaries (credit reporting vs. debt collection).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72384"/>
            <a:ext cx="11430000" cy="960120"/>
          </a:xfrm>
          <a:prstGeom prst="rect">
            <a:avLst/>
          </a:prstGeom>
          <a:solidFill>
            <a:srgbClr val="E8F4FD"/>
          </a:solidFill>
          <a:ln w="1905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455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B6B"/>
                </a:solidFill>
                <a:latin typeface="Calibri"/>
              </a:rPr>
              <a:t>⚠️  Relief Risk Blindness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478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Only 16.3% of complaints result in consumer relief. Without predictive scoring, caseworkers review complaints in random order—systematically missing high-priority cases.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51376"/>
            <a:ext cx="11430000" cy="960120"/>
          </a:xfrm>
          <a:prstGeom prst="rect">
            <a:avLst/>
          </a:prstGeom>
          <a:solidFill>
            <a:srgbClr val="E8F4FD"/>
          </a:solidFill>
          <a:ln w="1905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2452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B6B"/>
                </a:solidFill>
                <a:latin typeface="Calibri"/>
              </a:rPr>
              <a:t>📡  Late Crisis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26864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Emerging fraud schemes and regulatory crises (e.g., COVID-19 forbearance disputes) appear in complaint narratives months before official enforcement actions. Manual trend analysis is far too slow.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30368"/>
            <a:ext cx="11430000" cy="960120"/>
          </a:xfrm>
          <a:prstGeom prst="rect">
            <a:avLst/>
          </a:prstGeom>
          <a:solidFill>
            <a:srgbClr val="E8F4FD"/>
          </a:solidFill>
          <a:ln w="1905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B6B"/>
                </a:solidFill>
                <a:latin typeface="Calibri"/>
              </a:rPr>
              <a:t>🕸️  Systemic Risk Blind Spots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0585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Individual case review misses institution-wide complaint patterns and cross-institutional networks of shared regulatory issues—invisible to complaint-by-complaint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ComplaintScope: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Five analytical engines transforming unstructured complaints into actionable regulatory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2148840" cy="1353312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98448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Raw CFPB Data
878K Narratives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29968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8D4F0"/>
                </a:solidFill>
                <a:latin typeface="Calibri"/>
              </a:rPr>
              <a:t>Layer 1
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691640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8BC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261872"/>
            <a:ext cx="2148840" cy="1353312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298448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19,998 Clean
Narratives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029968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8D4F0"/>
                </a:solidFill>
                <a:latin typeface="Calibri"/>
              </a:rPr>
              <a:t>Layer 2
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691640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8BC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79" y="1261872"/>
            <a:ext cx="2148840" cy="1353312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19" y="1298448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TF-IDF + MiniLM
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19" y="2029968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8D4F0"/>
                </a:solidFill>
                <a:latin typeface="Calibri"/>
              </a:rPr>
              <a:t>Layer 3–4
Preprocessing
&amp;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19" y="1691640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8BC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199" y="1261872"/>
            <a:ext cx="2148840" cy="1353312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1298448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 Analytical
Engines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029968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8D4F0"/>
                </a:solidFill>
                <a:latin typeface="Calibri"/>
              </a:rPr>
              <a:t>Layer 5
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1691640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8BC8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19" y="1261872"/>
            <a:ext cx="2148840" cy="1353312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59" y="1298448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Streamlit
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59" y="2029968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8D4F0"/>
                </a:solidFill>
                <a:latin typeface="Calibri"/>
              </a:rPr>
              <a:t>Layer 6
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880360"/>
            <a:ext cx="2148840" cy="3474720"/>
          </a:xfrm>
          <a:prstGeom prst="rect">
            <a:avLst/>
          </a:prstGeom>
          <a:solidFill>
            <a:srgbClr val="E8F4FD"/>
          </a:solidFill>
          <a:ln w="254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2880360"/>
            <a:ext cx="2148840" cy="4114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29077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FFFFF"/>
                </a:solidFill>
                <a:latin typeface="Calibri"/>
              </a:rPr>
              <a:t>Component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333756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3B6B"/>
                </a:solidFill>
                <a:latin typeface="Calibri"/>
              </a:rPr>
              <a:t>Product
Classification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02336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9-class NLP Triage
Macro-F1 = 0.7394
Accuracy = 87.43%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26151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38BC8"/>
                </a:solidFill>
                <a:latin typeface="Calibri"/>
              </a:rPr>
              <a:t>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2880360"/>
            <a:ext cx="2148840" cy="3474720"/>
          </a:xfrm>
          <a:prstGeom prst="rect">
            <a:avLst/>
          </a:prstGeom>
          <a:solidFill>
            <a:srgbClr val="E8F4FD"/>
          </a:solidFill>
          <a:ln w="2540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51760" y="2880360"/>
            <a:ext cx="2148840" cy="41148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29077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FFFFF"/>
                </a:solidFill>
                <a:latin typeface="Calibri"/>
              </a:rPr>
              <a:t>Component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333756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5F9E"/>
                </a:solidFill>
                <a:latin typeface="Calibri"/>
              </a:rPr>
              <a:t>Relief-Risk
Prediction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02336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Binary Risk Scoring
PR-AUC = 0.3865
Lift@5% = 1.41×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26151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38BC8"/>
                </a:solidFill>
                <a:latin typeface="Calibri"/>
              </a:rPr>
              <a:t>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79" y="2880360"/>
            <a:ext cx="2148840" cy="3474720"/>
          </a:xfrm>
          <a:prstGeom prst="rect">
            <a:avLst/>
          </a:prstGeom>
          <a:solidFill>
            <a:srgbClr val="E8F4FD"/>
          </a:solidFill>
          <a:ln w="254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83479" y="2880360"/>
            <a:ext cx="2148840" cy="4114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19" y="29077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FFFFF"/>
                </a:solidFill>
                <a:latin typeface="Calibri"/>
              </a:rPr>
              <a:t>Component 3a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19" y="333756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3B6B"/>
                </a:solidFill>
                <a:latin typeface="Calibri"/>
              </a:rPr>
              <a:t>Topic
Discovery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19" y="402336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LDA k=16
C_V = 0.5009
16 Complaint Themes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79" y="26151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38BC8"/>
                </a:solidFill>
                <a:latin typeface="Calibri"/>
              </a:rPr>
              <a:t>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199" y="2880360"/>
            <a:ext cx="2148840" cy="3474720"/>
          </a:xfrm>
          <a:prstGeom prst="rect">
            <a:avLst/>
          </a:prstGeom>
          <a:solidFill>
            <a:srgbClr val="E8F4FD"/>
          </a:solidFill>
          <a:ln w="2540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199" y="2880360"/>
            <a:ext cx="2148840" cy="41148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29077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FFFFF"/>
                </a:solidFill>
                <a:latin typeface="Calibri"/>
              </a:rPr>
              <a:t>Component 3b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333756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5F9E"/>
                </a:solidFill>
                <a:latin typeface="Calibri"/>
              </a:rPr>
              <a:t>Burst
Detection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402336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EWMA-CUSUM
F1 = 0.8000
+2–3 months lead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26151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38BC8"/>
                </a:solidFill>
                <a:latin typeface="Calibri"/>
              </a:rPr>
              <a:t>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19" y="2880360"/>
            <a:ext cx="2148840" cy="3474720"/>
          </a:xfrm>
          <a:prstGeom prst="rect">
            <a:avLst/>
          </a:prstGeom>
          <a:solidFill>
            <a:srgbClr val="E8F4FD"/>
          </a:solidFill>
          <a:ln w="254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46919" y="2880360"/>
            <a:ext cx="2148840" cy="4114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59" y="29077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FFFFF"/>
                </a:solidFill>
                <a:latin typeface="Calibri"/>
              </a:rPr>
              <a:t>Comps. 4–5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59" y="333756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3B6B"/>
                </a:solidFill>
                <a:latin typeface="Calibri"/>
              </a:rPr>
              <a:t>Network
Analysis + SRI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59" y="402336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Q=0.2568, p&lt;0.001
Top SRI = 0.7819
3 Institutions Flagged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61319" y="26151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38BC8"/>
                </a:solidFill>
                <a:latin typeface="Calibri"/>
              </a:rPr>
              <a:t>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Dataset: CFPB Consumer Complaint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The world's largest public financial grievance dataset — CC0 Public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560320" cy="1280160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25880"/>
            <a:ext cx="237743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3B6B"/>
                </a:solidFill>
                <a:latin typeface="Calibri"/>
              </a:rPr>
              <a:t>&gt;8 Million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64131"/>
            <a:ext cx="2377439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Total CFPB complaints
(as of 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33472"/>
            <a:ext cx="2560320" cy="1280160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724912"/>
            <a:ext cx="237743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3B6B"/>
                </a:solidFill>
                <a:latin typeface="Calibri"/>
              </a:rPr>
              <a:t>878,262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63163"/>
            <a:ext cx="2377439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Complaints with
consumer narratives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32504"/>
            <a:ext cx="2560320" cy="1280160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4123944"/>
            <a:ext cx="237743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8754"/>
                </a:solidFill>
                <a:latin typeface="Calibri"/>
              </a:rPr>
              <a:t>19,998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762195"/>
            <a:ext cx="2377439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Final filtered study
corpus (2018–2023)</a:t>
            </a:r>
          </a:p>
        </p:txBody>
      </p:sp>
      <p:pic>
        <p:nvPicPr>
          <p:cNvPr id="17" name="Picture 16" descr="fig_01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207008"/>
            <a:ext cx="5303520" cy="290989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641080" y="1207008"/>
            <a:ext cx="3364992" cy="5074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1261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3B6B"/>
                </a:solidFill>
                <a:latin typeface="Calibri"/>
              </a:rPr>
              <a:t>7-Stage Filtering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1691640"/>
            <a:ext cx="3154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Calibri"/>
              </a:rPr>
              <a:t>1. All CFPB records: &gt;8M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Calibri"/>
              </a:rPr>
              <a:t>2. Non-null narratives: 878K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Calibri"/>
              </a:rPr>
              <a:t>3. Date: 2018–2023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Calibri"/>
              </a:rPr>
              <a:t>4. Length ≥ 20 tokens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Calibri"/>
              </a:rPr>
              <a:t>5. SHA-256 deduplicate −131K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Calibri"/>
              </a:rPr>
              <a:t>6. Definite relief labels only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D3B6B"/>
                </a:solidFill>
                <a:latin typeface="Calibri"/>
              </a:rPr>
              <a:t>7. Stratified sample → 19,998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Understanding the complaint corpus: temporal trends, class imbalance, and narrative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pic>
        <p:nvPicPr>
          <p:cNvPr id="8" name="Picture 7" descr="fig_02_monthl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5486400" cy="2791439"/>
          </a:xfrm>
          <a:prstGeom prst="rect">
            <a:avLst/>
          </a:prstGeom>
        </p:spPr>
      </p:pic>
      <p:pic>
        <p:nvPicPr>
          <p:cNvPr id="9" name="Picture 8" descr="fig_03_produc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234440"/>
            <a:ext cx="5897880" cy="2925720"/>
          </a:xfrm>
          <a:prstGeom prst="rect">
            <a:avLst/>
          </a:prstGeom>
        </p:spPr>
      </p:pic>
      <p:pic>
        <p:nvPicPr>
          <p:cNvPr id="10" name="Picture 9" descr="fig_04_narrative_leng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977639"/>
            <a:ext cx="5486400" cy="3316292"/>
          </a:xfrm>
          <a:prstGeom prst="rect">
            <a:avLst/>
          </a:prstGeom>
        </p:spPr>
      </p:pic>
      <p:pic>
        <p:nvPicPr>
          <p:cNvPr id="11" name="Picture 10" descr="fig_05_relief_rate_by_produ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3977639"/>
            <a:ext cx="5897880" cy="29380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040" y="3822191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C757D"/>
                </a:solidFill>
                <a:latin typeface="Calibri"/>
              </a:rPr>
              <a:t>Fig: Monthly complaint volume (2018–2023). COVID-19 surge clearly visible in 2020–2021.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822191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C757D"/>
                </a:solidFill>
                <a:latin typeface="Calibri"/>
              </a:rPr>
              <a:t>Fig: 9-class product distribution. Credit Reporting = 51.2% (severe imbalance).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Chronological Data Partitioning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The single most critical methodological decision — preventing temporal data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pic>
        <p:nvPicPr>
          <p:cNvPr id="8" name="Picture 7" descr="fig_06_spli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7132320" cy="25120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234440"/>
            <a:ext cx="4187952" cy="5230368"/>
          </a:xfrm>
          <a:prstGeom prst="rect">
            <a:avLst/>
          </a:prstGeom>
          <a:solidFill>
            <a:srgbClr val="E8F4FD"/>
          </a:solidFill>
          <a:ln w="1905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30759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6B"/>
                </a:solidFill>
                <a:latin typeface="Calibri"/>
              </a:rPr>
              <a:t>Why Chronological Splits?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755648"/>
            <a:ext cx="3886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0">
                <a:solidFill>
                  <a:srgbClr val="1A1A2E"/>
                </a:solidFill>
                <a:latin typeface="Calibri"/>
              </a:rPr>
              <a:t>▸ Financial complaint language is non-stationary — it evolves with new products, regulations, and events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1A1A2E"/>
                </a:solidFill>
                <a:latin typeface="Calibri"/>
              </a:rPr>
              <a:t>▸ COVID-19, CARES Act, and new fintech products create novel terminology in 2020–2023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1A1A2E"/>
                </a:solidFill>
                <a:latin typeface="Calibri"/>
              </a:rPr>
              <a:t>▸ Random splits leak future terms into training data → artificially inflated accuracy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C0392B"/>
                </a:solidFill>
                <a:latin typeface="Calibri"/>
              </a:rPr>
              <a:t>▸ AQ3 Evidence: Random split = 0.9330 F1 vs. Chronological = 0.7317 F1 (Δ = −20.13 pp)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1A1A2E"/>
                </a:solidFill>
                <a:latin typeface="Calibri"/>
              </a:rPr>
              <a:t>▸ Any CFPB complaint classifier evaluated with random splits overstates real performance by ~20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892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B6B"/>
                </a:solidFill>
                <a:latin typeface="Calibri"/>
              </a:rPr>
              <a:t>Split Summary: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257800"/>
            <a:ext cx="1627632" cy="34290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" y="5294376"/>
            <a:ext cx="15361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5257800"/>
            <a:ext cx="1627632" cy="34290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79" y="5294376"/>
            <a:ext cx="15361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Records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5257800"/>
            <a:ext cx="3822192" cy="34290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5294376"/>
            <a:ext cx="373075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Date Range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600700"/>
            <a:ext cx="1627632" cy="33375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5637276"/>
            <a:ext cx="1517904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Train (70%)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5600700"/>
            <a:ext cx="1627632" cy="33375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0824" y="5637276"/>
            <a:ext cx="1517904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13,983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5600700"/>
            <a:ext cx="3822192" cy="33375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66744" y="5637276"/>
            <a:ext cx="3712464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2018-07-19 → 2022-03-17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943600"/>
            <a:ext cx="1627632" cy="33375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5980176"/>
            <a:ext cx="1517904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Val (15%)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65960" y="5943600"/>
            <a:ext cx="1627632" cy="33375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5980176"/>
            <a:ext cx="1517904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2,999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5943600"/>
            <a:ext cx="3822192" cy="33375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6744" y="5980176"/>
            <a:ext cx="3712464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2022-03-18 → 2022-08-12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6286500"/>
            <a:ext cx="1627632" cy="33375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" y="6323076"/>
            <a:ext cx="1517904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Test (15%)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65960" y="6286500"/>
            <a:ext cx="1627632" cy="33375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6323076"/>
            <a:ext cx="1517904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3,016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6286500"/>
            <a:ext cx="3822192" cy="33375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66744" y="6323076"/>
            <a:ext cx="3712464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2022-08-13 → 2023-01-26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Text Preprocessing &amp; Ablation Study (AQ4)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Every preprocessing decision is empirically justified — not assumed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pic>
        <p:nvPicPr>
          <p:cNvPr id="8" name="Picture 7" descr="fig_nb02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5669280" cy="280030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72200" y="1234440"/>
            <a:ext cx="5715000" cy="5230368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0759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6B"/>
                </a:solidFill>
                <a:latin typeface="Calibri"/>
              </a:rPr>
              <a:t>Ablation Results (7 Configurations)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349240" cy="603504"/>
          </a:xfrm>
          <a:prstGeom prst="rect">
            <a:avLst/>
          </a:prstGeom>
          <a:solidFill>
            <a:srgbClr val="E8F8EE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874519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98754"/>
                </a:solidFill>
                <a:latin typeface="Calibri"/>
              </a:rPr>
              <a:t>★ ★ No Redaction (remove XXXX)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19488" y="1874519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98754"/>
                </a:solidFill>
                <a:latin typeface="Calibri"/>
              </a:rPr>
              <a:t>0.5140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4432" y="1874519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8754"/>
                </a:solidFill>
                <a:latin typeface="Calibri"/>
              </a:rPr>
              <a:t>+1.49pp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441448"/>
            <a:ext cx="534924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532888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   Baseline (placeholder tokens)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2532888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B"/>
                </a:solidFill>
                <a:latin typeface="Calibri"/>
              </a:rPr>
              <a:t>0.4991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4432" y="2532888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099815"/>
            <a:ext cx="5349240" cy="603504"/>
          </a:xfrm>
          <a:prstGeom prst="rect">
            <a:avLst/>
          </a:prstGeom>
          <a:solidFill>
            <a:srgbClr val="F0F4F8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319125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   No Lowercasing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3191256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B"/>
                </a:solidFill>
                <a:latin typeface="Calibri"/>
              </a:rPr>
              <a:t>0.4978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4432" y="3191256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−0.13pp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758184"/>
            <a:ext cx="534924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3849624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   No Negation Preservation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3849624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B"/>
                </a:solidFill>
                <a:latin typeface="Calibri"/>
              </a:rPr>
              <a:t>0.4976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4432" y="3849624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−0.15pp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416552"/>
            <a:ext cx="5349240" cy="603504"/>
          </a:xfrm>
          <a:prstGeom prst="rect">
            <a:avLst/>
          </a:prstGeom>
          <a:solidFill>
            <a:srgbClr val="F0F4F8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450799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   No Lemmatisation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9488" y="4507992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B"/>
                </a:solidFill>
                <a:latin typeface="Calibri"/>
              </a:rPr>
              <a:t>0.4635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4432" y="450799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−3.56pp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5074920"/>
            <a:ext cx="534924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5166359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   No Stopword Removal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9488" y="5166359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B"/>
                </a:solidFill>
                <a:latin typeface="Calibri"/>
              </a:rPr>
              <a:t>0.4236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4432" y="5166359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−7.55pp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733288"/>
            <a:ext cx="5349240" cy="603504"/>
          </a:xfrm>
          <a:prstGeom prst="rect">
            <a:avLst/>
          </a:prstGeom>
          <a:solidFill>
            <a:srgbClr val="F0F4F8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5824728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   Minimal (raw lowercase only)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19488" y="5824728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B"/>
                </a:solidFill>
                <a:latin typeface="Calibri"/>
              </a:rPr>
              <a:t>0.4203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14432" y="5824728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−7.88pp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64465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0D3B6B"/>
                </a:solidFill>
                <a:latin typeface="Calibri"/>
              </a:rPr>
              <a:t>Key Takeaway: Stopword removal (+7.55pp) and lemmatisation (+3.56pp) are the two most critical preprocessing steps. Negation preservation prevents semantic inversion in dispute sentences.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Three complementary representations — ALL fitted strictly on training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pic>
        <p:nvPicPr>
          <p:cNvPr id="8" name="Picture 7" descr="fig07_zipf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4572000" cy="3122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74920" y="1261872"/>
            <a:ext cx="3383280" cy="2395728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74920" y="1261872"/>
            <a:ext cx="3383280" cy="420624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3258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Sublinear TF-IDF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764792"/>
            <a:ext cx="310896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30,000 features, bigrams (1–2)
Sublinear tf = 1 + log(tf)
Zipf α≈1.05 justifies dampening
For: Classification &amp; Relief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261872"/>
            <a:ext cx="3383280" cy="2395728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0" y="1261872"/>
            <a:ext cx="3383280" cy="420624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3258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MiniLM-L6-v2 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764792"/>
            <a:ext cx="310896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384-dim dense vectors
Pre-trained on 1B+ sentence pairs
L2-normalised, cached to .npy
For: kNN Retrieval &amp; Classification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867912"/>
            <a:ext cx="3383280" cy="2395728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3867912"/>
            <a:ext cx="3383280" cy="420624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93192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Bag of 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370832"/>
            <a:ext cx="310896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30,000 features, raw counts
Bigrams (1–2), min_df=2
No IDF weighting
For: Naïve Bayes baselines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3867912"/>
            <a:ext cx="3383280" cy="2395728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0" y="3867912"/>
            <a:ext cx="3383280" cy="420624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393192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Operational Metadata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4370832"/>
            <a:ext cx="310896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One-hot: channel, tags, state
Company ID EXCLUDED (prevents drift)
Ablation shows company overfits
For: Relief Prediction experiment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6510528"/>
            <a:ext cx="6903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B6B"/>
                </a:solidFill>
                <a:latin typeface="Calibri"/>
              </a:rPr>
              <a:t>P@k Retrieval (MiniLM embeddings): P@1=80.2%  P@3=91.9%  P@5=94.3%  P@10=96.7%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8D4F0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Product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8D4F0"/>
                </a:solidFill>
                <a:latin typeface="Calibri"/>
              </a:rPr>
              <a:t>9-Class Complaint Routing — Benchmark Results &amp; Temporal Concept Drift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556580"/>
                </a:solidFill>
                <a:latin typeface="Calibri"/>
              </a:rPr>
              <a:t>CBS3009 | ComplaintScope | VIT Vellore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Component 1: Product Classification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9 models trained on identical chronological splits — champion selected by Validation Macro-F1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4096512" cy="47752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271016"/>
            <a:ext cx="4005072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1490472" cy="47752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271016"/>
            <a:ext cx="1399031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Val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34440"/>
            <a:ext cx="1490472" cy="47752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271016"/>
            <a:ext cx="1399031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 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1234440"/>
            <a:ext cx="1536192" cy="47752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271016"/>
            <a:ext cx="1444752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 Acc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234440"/>
            <a:ext cx="2862072" cy="47752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271016"/>
            <a:ext cx="2770632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95% Bootstrap CI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711960"/>
            <a:ext cx="409651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" y="1748536"/>
            <a:ext cx="398678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8754"/>
                </a:solidFill>
                <a:latin typeface="Calibri"/>
              </a:rPr>
              <a:t>★ LinearSVC (Calibrated) ← Champion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1711960"/>
            <a:ext cx="149047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9703" y="174853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0.7349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711960"/>
            <a:ext cx="149047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98464" y="174853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0.7394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1711960"/>
            <a:ext cx="153619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1748536"/>
            <a:ext cx="142646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87.43%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1711960"/>
            <a:ext cx="286207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1704" y="1748536"/>
            <a:ext cx="275234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[0.708, 0.767]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189480"/>
            <a:ext cx="409651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" y="2226056"/>
            <a:ext cx="398678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LogisticRegression (Val-Tuned)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2189480"/>
            <a:ext cx="149047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3" y="222605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0.7171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189480"/>
            <a:ext cx="149047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8464" y="222605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0.7319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60" y="2189480"/>
            <a:ext cx="153619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07224" y="2226056"/>
            <a:ext cx="142646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87.27%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2189480"/>
            <a:ext cx="286207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61704" y="2226056"/>
            <a:ext cx="275234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[0.698, 0.761]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667000"/>
            <a:ext cx="409651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" y="2703576"/>
            <a:ext cx="398678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MiniLM-L6-v2 + LR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34840" y="2667000"/>
            <a:ext cx="149047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9703" y="270357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0.7157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2667000"/>
            <a:ext cx="149047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98464" y="270357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0.7002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2667000"/>
            <a:ext cx="153619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07224" y="2703576"/>
            <a:ext cx="142646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85.68%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06840" y="2667000"/>
            <a:ext cx="286207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61704" y="2703576"/>
            <a:ext cx="275234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[0.668, 0.730]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144520"/>
            <a:ext cx="409651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" y="3181096"/>
            <a:ext cx="398678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LogisticRegression (Default)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34840" y="3144520"/>
            <a:ext cx="149047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9703" y="318109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0.6644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3144520"/>
            <a:ext cx="149047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98464" y="318109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0.7054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52360" y="3144520"/>
            <a:ext cx="153619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07224" y="3181096"/>
            <a:ext cx="142646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87.30%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06840" y="3144520"/>
            <a:ext cx="286207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61704" y="3181096"/>
            <a:ext cx="275234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[0.667, 0.734]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622040"/>
            <a:ext cx="409651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904" y="3658616"/>
            <a:ext cx="398678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ComplementNB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34840" y="3622040"/>
            <a:ext cx="149047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89703" y="365861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0.6264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0" y="3622040"/>
            <a:ext cx="149047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98464" y="365861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0.6457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52360" y="3622040"/>
            <a:ext cx="153619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07224" y="3658616"/>
            <a:ext cx="142646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85.48%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06840" y="3622040"/>
            <a:ext cx="286207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61704" y="3658616"/>
            <a:ext cx="275234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[0.617, 0.673]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099560"/>
            <a:ext cx="409651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74904" y="4136136"/>
            <a:ext cx="398678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MultinomialNB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34840" y="4099560"/>
            <a:ext cx="149047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89703" y="413613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0.6206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4099560"/>
            <a:ext cx="149047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8464" y="413613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0.6218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52360" y="4099560"/>
            <a:ext cx="153619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07224" y="4136136"/>
            <a:ext cx="142646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84.85%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06840" y="4099560"/>
            <a:ext cx="286207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61704" y="4136136"/>
            <a:ext cx="275234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[0.592, 0.647]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4577080"/>
            <a:ext cx="409651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4904" y="4613656"/>
            <a:ext cx="398678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DecisionTree (depth=10)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434840" y="4577080"/>
            <a:ext cx="149047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89703" y="461365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0.5070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43600" y="4577080"/>
            <a:ext cx="149047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98464" y="461365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0.4765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52360" y="4577080"/>
            <a:ext cx="153619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07224" y="4613656"/>
            <a:ext cx="142646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77.25%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06840" y="4577080"/>
            <a:ext cx="2862072" cy="46837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061704" y="4613656"/>
            <a:ext cx="275234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[0.445, 0.505]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5054600"/>
            <a:ext cx="409651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74904" y="5091176"/>
            <a:ext cx="398678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Dummy (Stratified Baseline)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434840" y="5054600"/>
            <a:ext cx="149047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89703" y="509117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0.0923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943600" y="5054600"/>
            <a:ext cx="149047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98464" y="5091176"/>
            <a:ext cx="1380743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0.0950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52360" y="5054600"/>
            <a:ext cx="153619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07224" y="5091176"/>
            <a:ext cx="142646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31.07%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006840" y="5054600"/>
            <a:ext cx="2862072" cy="46837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061704" y="5091176"/>
            <a:ext cx="2752344" cy="36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[0.086, 0.105]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" y="5623560"/>
            <a:ext cx="2743200" cy="1078992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1479" y="5715000"/>
            <a:ext cx="2560320" cy="593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8754"/>
                </a:solidFill>
                <a:latin typeface="Calibri"/>
              </a:rPr>
              <a:t>0.7394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1479" y="6238585"/>
            <a:ext cx="2560320" cy="431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Test Macro-F1
(Champion LinearSVC)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337560" y="5623560"/>
            <a:ext cx="2743200" cy="1078992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429000" y="5715000"/>
            <a:ext cx="2560320" cy="593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3B6B"/>
                </a:solidFill>
                <a:latin typeface="Calibri"/>
              </a:rPr>
              <a:t>87.43%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29000" y="6238585"/>
            <a:ext cx="2560320" cy="431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Test Accuracy
(Champion)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55080" y="5623560"/>
            <a:ext cx="2743200" cy="1078992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46520" y="5715000"/>
            <a:ext cx="2560320" cy="593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3B6B"/>
                </a:solidFill>
                <a:latin typeface="Calibri"/>
              </a:rPr>
              <a:t>χ²=535.64
p&lt;10⁻¹¹⁸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46520" y="6238585"/>
            <a:ext cx="2560320" cy="431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McNemar Significance
vs. Baseline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0" y="5623560"/>
            <a:ext cx="2743200" cy="1078992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235440" y="5715000"/>
            <a:ext cx="2560320" cy="593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8754"/>
                </a:solidFill>
                <a:latin typeface="Calibri"/>
              </a:rPr>
              <a:t>20/20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235440" y="6238585"/>
            <a:ext cx="2560320" cy="431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Automated Tests
Passing 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Classification Results: Confusion Matrix &amp; Top Terms (AQ1)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Primary error boundary: Credit Reporting ↔ Debt Collection (31.7% of all misclassifications)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pic>
        <p:nvPicPr>
          <p:cNvPr id="8" name="Picture 7" descr="fig10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5760720" cy="5084805"/>
          </a:xfrm>
          <a:prstGeom prst="rect">
            <a:avLst/>
          </a:prstGeom>
        </p:spPr>
      </p:pic>
      <p:pic>
        <p:nvPicPr>
          <p:cNvPr id="9" name="Picture 8" descr="fig08_class_top_te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623560" cy="30946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6446520"/>
            <a:ext cx="11567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0D3B6B"/>
                </a:solidFill>
                <a:latin typeface="Calibri"/>
              </a:rPr>
              <a:t>Error Analysis: Credit Reporting ↔ Debt Collection confusion arises because third-party debt collectors routinely threaten credit bureau filings as enforcement tactics, creating overlapping lexical signatures in both categories.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Temporal Concept Drift Analysis (AQ3)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Why random train/test splits are dangerously misleading for financial NLP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3520440" cy="1828800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5331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C757D"/>
                </a:solidFill>
                <a:latin typeface="Calibri"/>
              </a:rPr>
              <a:t>0.9330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304287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Macro-F1
Random Split
(data-leaking — INVALID)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261872"/>
            <a:ext cx="3520440" cy="1828800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35331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3B6B"/>
                </a:solidFill>
                <a:latin typeface="Calibri"/>
              </a:rPr>
              <a:t>0.7317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304287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Macro-F1
Chronological Split
(honest evaluation)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261872"/>
            <a:ext cx="3886200" cy="1828800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353312"/>
            <a:ext cx="3703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Calibri"/>
              </a:rPr>
              <a:t>−20.13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04287"/>
            <a:ext cx="3703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Absolute Performance Drop
(Temporal Concept Drift)
Δ = −0.2013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273552"/>
            <a:ext cx="1156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B6B"/>
                </a:solidFill>
                <a:latin typeface="Calibri"/>
              </a:rPr>
              <a:t>What this means — and why it matters: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67328"/>
            <a:ext cx="11567160" cy="457200"/>
          </a:xfrm>
          <a:prstGeom prst="rect">
            <a:avLst/>
          </a:prstGeom>
          <a:solidFill>
            <a:srgbClr val="FDEDEA"/>
          </a:solidFill>
          <a:ln w="63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822191"/>
            <a:ext cx="11292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Random k-fold cross-validation would report 93.3% Macro-F1 — a dangerously overconfident and misleading estimate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279392"/>
            <a:ext cx="11567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334255"/>
            <a:ext cx="11292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Real production performance is only 73.2% Macro-F1 — 20 percentage points lower than what random splits show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791456"/>
            <a:ext cx="11567160" cy="457200"/>
          </a:xfrm>
          <a:prstGeom prst="rect">
            <a:avLst/>
          </a:prstGeom>
          <a:solidFill>
            <a:srgbClr val="E8F4FD"/>
          </a:solidFill>
          <a:ln w="63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846320"/>
            <a:ext cx="11292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The gap is caused by temporal concept drift: COVID-19 terminology, CARES Act language, and new fintech products post-2022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303520"/>
            <a:ext cx="11567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5358384"/>
            <a:ext cx="11292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Operational implication: Any deployed CFPB complaint classifier MUST be retrained every 6 months to maintain accuracy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815584"/>
            <a:ext cx="11567160" cy="457200"/>
          </a:xfrm>
          <a:prstGeom prst="rect">
            <a:avLst/>
          </a:prstGeom>
          <a:solidFill>
            <a:srgbClr val="FDEDEA"/>
          </a:solidFill>
          <a:ln w="63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5870448"/>
            <a:ext cx="11292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Academic implication: Prior CFPB NLP papers reporting &gt;90% accuracy with random splits are systematically overstating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8D4F0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Relief-Risk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8D4F0"/>
                </a:solidFill>
                <a:latin typeface="Calibri"/>
              </a:rPr>
              <a:t>Prioritising the 16.3% of complaints that result in consumer 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556580"/>
                </a:solidFill>
                <a:latin typeface="Calibri"/>
              </a:rPr>
              <a:t>CBS3009 | ComplaintScope | VIT Vellore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Component 2: Relief-Risk Prediction &amp; Triage Simulation (AQ2 &amp; AQ7)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Predicting consumer relief probability to prioritise investigator workload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11567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  <a:latin typeface="Calibri"/>
              </a:rPr>
              <a:t>relief = 1: 'Closed with monetary/non-monetary relief'  |  Base rate = 16.3%  |  Class weight ratio = 5.15:1  |  Metric: PR-AUC (class-imbalance robust)</a:t>
            </a:r>
          </a:p>
        </p:txBody>
      </p:sp>
      <p:pic>
        <p:nvPicPr>
          <p:cNvPr id="9" name="Picture 8" descr="fig12_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00200"/>
            <a:ext cx="4160520" cy="3714750"/>
          </a:xfrm>
          <a:prstGeom prst="rect">
            <a:avLst/>
          </a:prstGeom>
        </p:spPr>
      </p:pic>
      <p:pic>
        <p:nvPicPr>
          <p:cNvPr id="10" name="Picture 9" descr="fig13_triage_g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4160520" cy="328148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34272" y="1600200"/>
            <a:ext cx="2834640" cy="5074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664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3B6B"/>
                </a:solidFill>
                <a:latin typeface="Calibri"/>
              </a:rPr>
              <a:t>Triage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1488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5F9E"/>
                </a:solidFill>
                <a:latin typeface="Calibri"/>
              </a:rPr>
              <a:t>Random review rate: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49631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B6B"/>
                </a:solidFill>
                <a:latin typeface="Calibri"/>
              </a:rPr>
              <a:t>16.3%
(base rate)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30632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5F9E"/>
                </a:solidFill>
                <a:latin typeface="Calibri"/>
              </a:rPr>
              <a:t>Top 5% audit queue: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41071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B6B"/>
                </a:solidFill>
                <a:latin typeface="Calibri"/>
              </a:rPr>
              <a:t>44.67% precision
1.41× lift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977639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5F9E"/>
                </a:solidFill>
                <a:latin typeface="Calibri"/>
              </a:rPr>
              <a:t>Top 20% audit queue: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32511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B6B"/>
                </a:solidFill>
                <a:latin typeface="Calibri"/>
              </a:rPr>
              <a:t>Captures 24.48%
of ALL relief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48920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5F9E"/>
                </a:solidFill>
                <a:latin typeface="Calibri"/>
              </a:rPr>
              <a:t>Brier Score: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523951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B6B"/>
                </a:solidFill>
                <a:latin typeface="Calibri"/>
              </a:rPr>
              <a:t>0.2316
(well-calibrated)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58064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5F9E"/>
                </a:solidFill>
                <a:latin typeface="Calibri"/>
              </a:rPr>
              <a:t>PR-AUC 95% CI: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615391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B6B"/>
                </a:solidFill>
                <a:latin typeface="Calibri"/>
              </a:rPr>
              <a:t>[0.359, 0.415]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10912"/>
            <a:ext cx="3273552" cy="338328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9" y="5047488"/>
            <a:ext cx="318211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5010912"/>
            <a:ext cx="1353312" cy="338328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5047488"/>
            <a:ext cx="12618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PR-AUC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5010912"/>
            <a:ext cx="1399032" cy="338328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5047488"/>
            <a:ext cx="130759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010912"/>
            <a:ext cx="1399032" cy="338328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047488"/>
            <a:ext cx="130759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Prec@5%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5010912"/>
            <a:ext cx="987552" cy="338328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5047488"/>
            <a:ext cx="89611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Lift@5%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349240"/>
            <a:ext cx="3273552" cy="329184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" y="5385816"/>
            <a:ext cx="3163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8754"/>
                </a:solidFill>
                <a:latin typeface="Calibri"/>
              </a:rPr>
              <a:t>★ Text LR (Champion)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5349240"/>
            <a:ext cx="1353312" cy="329184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66744" y="5385816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0.3865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5349240"/>
            <a:ext cx="1399032" cy="329184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38344" y="5385816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0.6063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349240"/>
            <a:ext cx="1399032" cy="329184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5385816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44.67%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18120" y="5349240"/>
            <a:ext cx="987552" cy="329184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72984" y="5385816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1.41×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87568"/>
            <a:ext cx="327355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" y="5724144"/>
            <a:ext cx="3163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Text + Meta LR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11880" y="5687568"/>
            <a:ext cx="135331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66744" y="5724144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0.3796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83480" y="5687568"/>
            <a:ext cx="139903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38344" y="5724144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0.6023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5687568"/>
            <a:ext cx="139903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55664" y="5724144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40.00%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5687568"/>
            <a:ext cx="98755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72984" y="5724144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1.26×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6025896"/>
            <a:ext cx="3273552" cy="329184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" y="6062472"/>
            <a:ext cx="3163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HistGradientBoosting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11880" y="6025896"/>
            <a:ext cx="1353312" cy="329184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66744" y="6062472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0.3780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83480" y="6025896"/>
            <a:ext cx="1399032" cy="329184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38344" y="6062472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0.5929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6025896"/>
            <a:ext cx="1399032" cy="329184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5664" y="6062472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44.00%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8120" y="6025896"/>
            <a:ext cx="987552" cy="329184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72984" y="6062472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1.39×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6364224"/>
            <a:ext cx="327355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4904" y="6400800"/>
            <a:ext cx="3163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Prior-Rate Baseline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11880" y="6364224"/>
            <a:ext cx="135331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66744" y="6400800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0.3170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83480" y="6364224"/>
            <a:ext cx="139903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38344" y="640080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0.5000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6364224"/>
            <a:ext cx="139903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55664" y="640080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34.00%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18120" y="6364224"/>
            <a:ext cx="98755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872984" y="6400800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1.07×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8D4F0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Topic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8D4F0"/>
                </a:solidFill>
                <a:latin typeface="Calibri"/>
              </a:rPr>
              <a:t>What hidden complaint themes exist in 19,998 narratives? — LDA, NMF &amp; K-Means benchmarked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556580"/>
                </a:solidFill>
                <a:latin typeface="Calibri"/>
              </a:rPr>
              <a:t>CBS3009 | ComplaintScope | VIT Vellore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Component 3a: Topic Discovery — LDA Coherence 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k ∈ {8, 12, 16, 20, 24} evaluated for LDA, NMF, and K-Means on dense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pic>
        <p:nvPicPr>
          <p:cNvPr id="8" name="Picture 7" descr="fig14_lda_coherenc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5669280" cy="3770656"/>
          </a:xfrm>
          <a:prstGeom prst="rect">
            <a:avLst/>
          </a:prstGeom>
        </p:spPr>
      </p:pic>
      <p:pic>
        <p:nvPicPr>
          <p:cNvPr id="9" name="Picture 8" descr="fig15_topic_product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715000" cy="695256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5623560"/>
            <a:ext cx="2560320" cy="1078992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5715000"/>
            <a:ext cx="2377439" cy="593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3B6B"/>
                </a:solidFill>
                <a:latin typeface="Calibri"/>
              </a:rPr>
              <a:t>k =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6238585"/>
            <a:ext cx="2377439" cy="431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Optimal Topics
(LDA)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5623560"/>
            <a:ext cx="2560320" cy="1078992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5715000"/>
            <a:ext cx="2377439" cy="593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3B6B"/>
                </a:solidFill>
                <a:latin typeface="Calibri"/>
              </a:rPr>
              <a:t>0.5009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6238585"/>
            <a:ext cx="2377439" cy="431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C_V Coherence
(semantic quality)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5623560"/>
            <a:ext cx="2560320" cy="1078992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79" y="5715000"/>
            <a:ext cx="2377439" cy="593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3B6B"/>
                </a:solidFill>
                <a:latin typeface="Calibri"/>
              </a:rPr>
              <a:t>0.7312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6238585"/>
            <a:ext cx="2377439" cy="431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Topic Diversity
(non-redundancy)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5623560"/>
            <a:ext cx="3337560" cy="1078992"/>
          </a:xfrm>
          <a:prstGeom prst="rect">
            <a:avLst/>
          </a:prstGeom>
          <a:solidFill>
            <a:srgbClr val="E8F4FD"/>
          </a:solidFill>
          <a:ln w="1905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5715000"/>
            <a:ext cx="3154679" cy="593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Calibri"/>
              </a:rPr>
              <a:t>K-Means Failed
0.021–0.026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6238585"/>
            <a:ext cx="3154679" cy="431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Silhouette Score
(too low to use)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473952"/>
            <a:ext cx="1156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0D3B6B"/>
                </a:solidFill>
                <a:latin typeface="Calibri"/>
              </a:rPr>
              <a:t>Heatmap confirms semantic validity: discovered topics map specifically to known CFPB product categories (e.g., Topic 3 = Mortgage only; Topic 0 = Credit Reporting only).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16 Discovered Complaint Themes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LDA k=16 reveals interpretable regulatory complaint categories beyond CFPB's official taxonomy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26187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261872"/>
            <a:ext cx="1389888" cy="329184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0759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64591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3B6B"/>
                </a:solidFill>
                <a:latin typeface="Calibri"/>
              </a:rPr>
              <a:t>Credit Bureau
Disputes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59689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credit, report, dispute, bureau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5648" y="126187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55648" y="1261872"/>
            <a:ext cx="1389888" cy="329184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10512" y="130759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164591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3B6B"/>
                </a:solidFill>
                <a:latin typeface="Calibri"/>
              </a:rPr>
              <a:t>Debt Collection
Harassment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259689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debt, collection, validate, 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8688" y="126187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18688" y="1261872"/>
            <a:ext cx="1389888" cy="329184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73552" y="130759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164591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3B6B"/>
                </a:solidFill>
                <a:latin typeface="Calibri"/>
              </a:rPr>
              <a:t>Student Loan
Servicing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3552" y="259689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loan, student, servicer, federal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1728" y="126187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81728" y="1261872"/>
            <a:ext cx="1389888" cy="329184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6592" y="130759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164591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3B6B"/>
                </a:solidFill>
                <a:latin typeface="Calibri"/>
              </a:rPr>
              <a:t>Mortgage
Forbearance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259689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mortgage, forbearance, escrow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126187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1261872"/>
            <a:ext cx="1389888" cy="329184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130759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164591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3B6B"/>
                </a:solidFill>
                <a:latin typeface="Calibri"/>
              </a:rPr>
              <a:t>Payday &amp; High-
Interest Lending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259689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payday, interest, lender, fee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07808" y="126187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07808" y="1261872"/>
            <a:ext cx="1389888" cy="329184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2" y="130759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164591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3B6B"/>
                </a:solidFill>
                <a:latin typeface="Calibri"/>
              </a:rPr>
              <a:t>Identity Theft
&amp; Fraud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259689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identity, theft, fraud, police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70848" y="126187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70848" y="1261872"/>
            <a:ext cx="1389888" cy="329184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25712" y="130759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164591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3B6B"/>
                </a:solidFill>
                <a:latin typeface="Calibri"/>
              </a:rPr>
              <a:t>Checking Account
Overdrafts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259689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account, overdraft, bank, fee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33888" y="126187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533888" y="1261872"/>
            <a:ext cx="1389888" cy="329184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88752" y="130759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88752" y="164591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3B6B"/>
                </a:solidFill>
                <a:latin typeface="Calibri"/>
              </a:rPr>
              <a:t>Credit Card
Billing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88752" y="259689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card, charge, dispute, merchant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" y="373075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2608" y="3730752"/>
            <a:ext cx="1389888" cy="329184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3776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" y="411480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5F9E"/>
                </a:solidFill>
                <a:latin typeface="Calibri"/>
              </a:rPr>
              <a:t>Auto Loan
Repossession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" y="506577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vehicle, repossess, auto, loan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55648" y="373075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755648" y="3730752"/>
            <a:ext cx="1389888" cy="329184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10512" y="3776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10512" y="411480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5F9E"/>
                </a:solidFill>
                <a:latin typeface="Calibri"/>
              </a:rPr>
              <a:t>Foreclosure
&amp; Property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10512" y="506577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foreclosure, escrow, servicer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18688" y="373075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18688" y="3730752"/>
            <a:ext cx="1389888" cy="329184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73552" y="3776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73552" y="411480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5F9E"/>
                </a:solidFill>
                <a:latin typeface="Calibri"/>
              </a:rPr>
              <a:t>Consumer Rights
&amp; Communication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73552" y="506577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contact, cease, right, letter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81728" y="373075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681728" y="3730752"/>
            <a:ext cx="1389888" cy="329184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36592" y="3776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36592" y="411480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5F9E"/>
                </a:solidFill>
                <a:latin typeface="Calibri"/>
              </a:rPr>
              <a:t>Personal Data
&amp; Privacy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36592" y="506577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information, personal, data, share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44768" y="373075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44768" y="3730752"/>
            <a:ext cx="1389888" cy="329184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99632" y="3776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9632" y="411480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5F9E"/>
                </a:solidFill>
                <a:latin typeface="Calibri"/>
              </a:rPr>
              <a:t>Credit Inquiry
&amp; Application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99632" y="506577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inquiry, hard pull, approve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07808" y="373075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607808" y="3730752"/>
            <a:ext cx="1389888" cy="329184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62672" y="3776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62672" y="411480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5F9E"/>
                </a:solidFill>
                <a:latin typeface="Calibri"/>
              </a:rPr>
              <a:t>Wire Transfer
&amp; Money Services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62672" y="506577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transfer, wire, money, send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70848" y="373075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070848" y="3730752"/>
            <a:ext cx="1389888" cy="329184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25712" y="3776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25712" y="411480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5F9E"/>
                </a:solidFill>
                <a:latin typeface="Calibri"/>
              </a:rPr>
              <a:t>Account Closure
&amp; Funds Access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25712" y="506577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account, close, fund, hold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33888" y="3730752"/>
            <a:ext cx="1389888" cy="2240280"/>
          </a:xfrm>
          <a:prstGeom prst="rect">
            <a:avLst/>
          </a:prstGeom>
          <a:solidFill>
            <a:srgbClr val="E8F4FD"/>
          </a:solidFill>
          <a:ln w="1270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33888" y="3730752"/>
            <a:ext cx="1389888" cy="329184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588752" y="3776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88752" y="411480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5F9E"/>
                </a:solidFill>
                <a:latin typeface="Calibri"/>
              </a:rPr>
              <a:t>COVID Relief
&amp; Stimulus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88752" y="5065776"/>
            <a:ext cx="1280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C757D"/>
                </a:solidFill>
                <a:latin typeface="Calibri"/>
              </a:rPr>
              <a:t>covid, stimulus, relief, deferral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8D4F0"/>
                </a:solidFill>
                <a:latin typeface="Calibr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Burst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8D4F0"/>
                </a:solidFill>
                <a:latin typeface="Calibri"/>
              </a:rPr>
              <a:t>Dual-Engine Early-Warning System — Detecting crises 2–3 months before they peak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556580"/>
                </a:solidFill>
                <a:latin typeface="Calibri"/>
              </a:rPr>
              <a:t>CBS3009 | ComplaintScope | VIT Vellore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Component 3b: Emerging-Issue Burst Detection (AQ5)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Validated against 5 pre-registered keyword-proxy ground truths — 2–3 month early-warning lead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303520" cy="2103120"/>
          </a:xfrm>
          <a:prstGeom prst="rect">
            <a:avLst/>
          </a:prstGeom>
          <a:solidFill>
            <a:srgbClr val="E8F4FD"/>
          </a:solidFill>
          <a:ln w="1905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6B"/>
                </a:solidFill>
                <a:latin typeface="Calibri"/>
              </a:rPr>
              <a:t>Detector A: Rolling Z-Score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Formula: z_t = (x_t − μ_{t−12:t−1}) / σ_{t−12:t−1}
Window: 12-month trailing baseline
Alert threshold: z &gt; 2.0σ
Strength: Ultra-high precision (100% on overdraft &amp; mortgage forbearance)
Use case: Immediate sharp-spike alerts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234440"/>
            <a:ext cx="5989320" cy="2103120"/>
          </a:xfrm>
          <a:prstGeom prst="rect">
            <a:avLst/>
          </a:prstGeom>
          <a:solidFill>
            <a:srgbClr val="E8F4FD"/>
          </a:solidFill>
          <a:ln w="1905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29844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F9E"/>
                </a:solidFill>
                <a:latin typeface="Calibri"/>
              </a:rPr>
              <a:t>Detector B: EWMA-CUSUM Control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737360"/>
            <a:ext cx="5760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EWMA span = 6 months  |  CUSUM threshold h = 4.0
S_t = max(0, S_{t−1} + (x_t − EWMA_t))
Strength: Detects slow-burning multi-month regulatory escalations
Achieves F1 = 0.8000 (Mortgage Forbearance), 0.7568 (COVID-19)
Use case: Policy preparation with 2–3 month lead time</a:t>
            </a:r>
          </a:p>
        </p:txBody>
      </p:sp>
      <p:pic>
        <p:nvPicPr>
          <p:cNvPr id="14" name="Picture 13" descr="fig16_topic_burst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474720"/>
            <a:ext cx="7132320" cy="715633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680960" y="3474720"/>
            <a:ext cx="4206240" cy="3246120"/>
          </a:xfrm>
          <a:prstGeom prst="rect">
            <a:avLst/>
          </a:prstGeom>
          <a:solidFill>
            <a:srgbClr val="E8F4FD"/>
          </a:solidFill>
          <a:ln w="12700">
            <a:solidFill>
              <a:srgbClr val="238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35387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3B6B"/>
                </a:solidFill>
                <a:latin typeface="Calibri"/>
              </a:rPr>
              <a:t>Validation Results (5 Proxies)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3977639"/>
            <a:ext cx="1444752" cy="44196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014215"/>
            <a:ext cx="1353312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Proxy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19" y="3977639"/>
            <a:ext cx="758952" cy="44196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4014215"/>
            <a:ext cx="667512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Z F1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59" y="3977639"/>
            <a:ext cx="987552" cy="44196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14215"/>
            <a:ext cx="896112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CUSUM F1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799" y="3977639"/>
            <a:ext cx="850392" cy="44196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18519" y="4014215"/>
            <a:ext cx="758952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79" y="4419600"/>
            <a:ext cx="1444752" cy="43281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81544" y="4456176"/>
            <a:ext cx="13350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COVID-19 Relief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19" y="4419600"/>
            <a:ext cx="758952" cy="43281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4584" y="4456176"/>
            <a:ext cx="6492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59" y="4419600"/>
            <a:ext cx="987552" cy="43281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21824" y="4456176"/>
            <a:ext cx="8778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0.757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799" y="4419600"/>
            <a:ext cx="850392" cy="43281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27663" y="4456176"/>
            <a:ext cx="74066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+2 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4861560"/>
            <a:ext cx="1444752" cy="43281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81544" y="4898136"/>
            <a:ext cx="13350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Overdraft Fees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19" y="4861560"/>
            <a:ext cx="758952" cy="43281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44584" y="4898136"/>
            <a:ext cx="6492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59" y="4861560"/>
            <a:ext cx="987552" cy="43281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21824" y="4898136"/>
            <a:ext cx="8778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0.250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799" y="4861560"/>
            <a:ext cx="850392" cy="43281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27663" y="4898136"/>
            <a:ext cx="74066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≈0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26679" y="5303520"/>
            <a:ext cx="1444752" cy="43281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81544" y="5340096"/>
            <a:ext cx="13350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Credit Disputes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89719" y="5303520"/>
            <a:ext cx="758952" cy="43281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44584" y="5340096"/>
            <a:ext cx="6492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0.22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66959" y="5303520"/>
            <a:ext cx="987552" cy="43281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21824" y="5340096"/>
            <a:ext cx="8778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0.703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799" y="5303520"/>
            <a:ext cx="850392" cy="43281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27663" y="5340096"/>
            <a:ext cx="74066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3yr drift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79" y="5745480"/>
            <a:ext cx="1444752" cy="43281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81544" y="5782056"/>
            <a:ext cx="13350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Debt Coll. Reg 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719" y="5745480"/>
            <a:ext cx="758952" cy="43281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44584" y="5782056"/>
            <a:ext cx="6492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0.38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66959" y="5745480"/>
            <a:ext cx="987552" cy="43281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21824" y="5782056"/>
            <a:ext cx="8778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0.750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972799" y="5745480"/>
            <a:ext cx="850392" cy="432816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27663" y="5782056"/>
            <a:ext cx="74066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+1 mo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26679" y="6187439"/>
            <a:ext cx="1444752" cy="43281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81544" y="6224015"/>
            <a:ext cx="13350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Mortgage Forbear.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89719" y="6187439"/>
            <a:ext cx="758952" cy="43281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44584" y="6224015"/>
            <a:ext cx="6492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0.25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966959" y="6187439"/>
            <a:ext cx="987552" cy="43281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21824" y="6224015"/>
            <a:ext cx="87782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0.800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972799" y="6187439"/>
            <a:ext cx="850392" cy="432816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27663" y="6224015"/>
            <a:ext cx="740664" cy="33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+3 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8D4F0"/>
                </a:solidFill>
                <a:latin typeface="Calibr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Network Analysis &amp; Systemic Risk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8D4F0"/>
                </a:solidFill>
                <a:latin typeface="Calibri"/>
              </a:rPr>
              <a:t>Bipartite Institutional Graph Projection → Louvain Community Detection → Composite SRI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556580"/>
                </a:solidFill>
                <a:latin typeface="Calibri"/>
              </a:rPr>
              <a:t>CBS3009 | ComplaintScope | VIT Vellore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Component 4: Bipartite Network Analysis &amp; Community Detection (AQ6)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2,502 institutions × 170 CFPB issues → projected co-occurrence network → Louvain communities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pic>
        <p:nvPicPr>
          <p:cNvPr id="8" name="Picture 7" descr="fig17_company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858000" cy="48811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06640" y="1234440"/>
            <a:ext cx="4480560" cy="5230368"/>
          </a:xfrm>
          <a:prstGeom prst="rect">
            <a:avLst/>
          </a:prstGeom>
          <a:solidFill>
            <a:srgbClr val="E8F4FD"/>
          </a:solidFill>
          <a:ln w="1905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29844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6B"/>
                </a:solidFill>
                <a:latin typeface="Calibri"/>
              </a:rPr>
              <a:t>Network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755648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1" sz="1000">
                <a:solidFill>
                  <a:srgbClr val="0D3B6B"/>
                </a:solidFill>
                <a:latin typeface="Calibri"/>
              </a:rPr>
              <a:t>Bipartite nodes: </a:t>
            </a:r>
            <a:r>
              <a:rPr sz="1000" b="0">
                <a:solidFill>
                  <a:srgbClr val="1A1A2E"/>
                </a:solidFill>
                <a:latin typeface="Calibri"/>
              </a:rPr>
              <a:t>2,502 companies + 170 issues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D3B6B"/>
                </a:solidFill>
                <a:latin typeface="Calibri"/>
              </a:rPr>
              <a:t>Bipartite edges: </a:t>
            </a:r>
            <a:r>
              <a:rPr sz="1000" b="0">
                <a:solidFill>
                  <a:srgbClr val="1A1A2E"/>
                </a:solidFill>
                <a:latin typeface="Calibri"/>
              </a:rPr>
              <a:t>18,204 weighted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D3B6B"/>
                </a:solidFill>
                <a:latin typeface="Calibri"/>
              </a:rPr>
              <a:t>Projected nodes: </a:t>
            </a:r>
            <a:r>
              <a:rPr sz="1000" b="0">
                <a:solidFill>
                  <a:srgbClr val="1A1A2E"/>
                </a:solidFill>
                <a:latin typeface="Calibri"/>
              </a:rPr>
              <a:t>Top-100 institutions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D3B6B"/>
                </a:solidFill>
                <a:latin typeface="Calibri"/>
              </a:rPr>
              <a:t>Projected edges: </a:t>
            </a:r>
            <a:r>
              <a:rPr sz="1000" b="0">
                <a:solidFill>
                  <a:srgbClr val="1A1A2E"/>
                </a:solidFill>
                <a:latin typeface="Calibri"/>
              </a:rPr>
              <a:t>3,774 (Jaccard sim ≥ 0.1)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D3B6B"/>
                </a:solidFill>
                <a:latin typeface="Calibri"/>
              </a:rPr>
              <a:t>Communities: </a:t>
            </a:r>
            <a:r>
              <a:rPr sz="1000" b="0">
                <a:solidFill>
                  <a:srgbClr val="1A1A2E"/>
                </a:solidFill>
                <a:latin typeface="Calibri"/>
              </a:rPr>
              <a:t>3 (Louvain algorithm)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D3B6B"/>
                </a:solidFill>
                <a:latin typeface="Calibri"/>
              </a:rPr>
              <a:t>Modularity Q: </a:t>
            </a:r>
            <a:r>
              <a:rPr sz="1000" b="1">
                <a:solidFill>
                  <a:srgbClr val="1A1A2E"/>
                </a:solidFill>
                <a:latin typeface="Calibri"/>
              </a:rPr>
              <a:t>0.2568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D3B6B"/>
                </a:solidFill>
                <a:latin typeface="Calibri"/>
              </a:rPr>
              <a:t>Null model Q̄: </a:t>
            </a:r>
            <a:r>
              <a:rPr sz="1000" b="0">
                <a:solidFill>
                  <a:srgbClr val="1A1A2E"/>
                </a:solidFill>
                <a:latin typeface="Calibri"/>
              </a:rPr>
              <a:t>0.0671 ± 0.0084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D3B6B"/>
                </a:solidFill>
                <a:latin typeface="Calibri"/>
              </a:rPr>
              <a:t>Significance: </a:t>
            </a:r>
            <a:r>
              <a:rPr sz="1000" b="1">
                <a:solidFill>
                  <a:srgbClr val="198754"/>
                </a:solidFill>
                <a:latin typeface="Calibri"/>
              </a:rPr>
              <a:t>p = 0.000 (&lt; 0.001)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5376672"/>
            <a:ext cx="1417320" cy="1024128"/>
          </a:xfrm>
          <a:prstGeom prst="rect">
            <a:avLst/>
          </a:prstGeom>
          <a:solidFill>
            <a:srgbClr val="E8F4FD"/>
          </a:solidFill>
          <a:ln w="254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541324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3B6B"/>
                </a:solidFill>
                <a:latin typeface="Calibri"/>
              </a:rPr>
              <a:t>Community 0 (Blue)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5760720"/>
            <a:ext cx="1280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Credit bureaus &amp; FinTech credit builders
TransUnion, Experian, Equifax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5376672"/>
            <a:ext cx="1417320" cy="1024128"/>
          </a:xfrm>
          <a:prstGeom prst="rect">
            <a:avLst/>
          </a:prstGeom>
          <a:solidFill>
            <a:srgbClr val="E8F4FD"/>
          </a:solidFill>
          <a:ln w="2540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541324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5F9E"/>
                </a:solidFill>
                <a:latin typeface="Calibri"/>
              </a:rPr>
              <a:t>Community 1 (Orange)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5760720"/>
            <a:ext cx="1280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Mega-banks &amp; consumer lenders
JPMorgan, Wells Fargo, BofA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20" y="5376672"/>
            <a:ext cx="1417320" cy="1024128"/>
          </a:xfrm>
          <a:prstGeom prst="rect">
            <a:avLst/>
          </a:prstGeom>
          <a:solidFill>
            <a:srgbClr val="E8F4FD"/>
          </a:solidFill>
          <a:ln w="254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05872" y="541324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8754"/>
                </a:solidFill>
                <a:latin typeface="Calibri"/>
              </a:rPr>
              <a:t>Community 2 (Green)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5872" y="5760720"/>
            <a:ext cx="1280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Mortgage servicers &amp; specialty lenders
Nationstar, Ocwen, Freedom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Component 5: Composite Systemic Risk Index (SRI)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5-dimension normalised risk ranking — robust to weight variation (Dirichlet sensitivity τ = 0.6374)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1156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B6B"/>
                </a:solidFill>
                <a:latin typeface="Calibri"/>
              </a:rPr>
              <a:t>SRI Formula:   SRI = 0.25 × V_volume  +  0.20 × R_relief_deficit  +  0.20 × B_breadth  +  0.20 × C_centrality  +  0.15 × S_burst_intensity</a:t>
            </a:r>
          </a:p>
        </p:txBody>
      </p:sp>
      <p:pic>
        <p:nvPicPr>
          <p:cNvPr id="9" name="Picture 8" descr="fig18_systemic_risk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27632"/>
            <a:ext cx="5943600" cy="3933607"/>
          </a:xfrm>
          <a:prstGeom prst="rect">
            <a:avLst/>
          </a:prstGeom>
        </p:spPr>
      </p:pic>
      <p:pic>
        <p:nvPicPr>
          <p:cNvPr id="10" name="Picture 9" descr="fig19_sri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27632"/>
            <a:ext cx="5394960" cy="39352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532180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C757D"/>
                </a:solidFill>
                <a:latin typeface="Calibri"/>
              </a:rPr>
              <a:t>Caption: Top-25 institutions by SRI. Three credit bureaus dominate risk ranking.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3218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C757D"/>
                </a:solidFill>
                <a:latin typeface="Calibri"/>
              </a:rPr>
              <a:t>Caption: Sensitivity analysis — top-3 bureaus maintain ranks 1–3 in &gt;94% of Dirichlet simulations.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650992"/>
            <a:ext cx="484632" cy="179832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" y="5687568"/>
            <a:ext cx="393192" cy="106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650992"/>
            <a:ext cx="3502152" cy="179832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687568"/>
            <a:ext cx="3410712" cy="106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Institution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5650992"/>
            <a:ext cx="1307592" cy="179832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687568"/>
            <a:ext cx="1216152" cy="106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SRI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5650992"/>
            <a:ext cx="1353312" cy="179832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5687568"/>
            <a:ext cx="1261872" cy="106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Relief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5650992"/>
            <a:ext cx="4828032" cy="179832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5687568"/>
            <a:ext cx="4736592" cy="106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Key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830823"/>
            <a:ext cx="48463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" y="5867399"/>
            <a:ext cx="37490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830823"/>
            <a:ext cx="350215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867399"/>
            <a:ext cx="339242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TransUnion Intermediate Holdings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5830823"/>
            <a:ext cx="130759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5867399"/>
            <a:ext cx="119786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0.7819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5830823"/>
            <a:ext cx="135331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24144" y="5867399"/>
            <a:ext cx="124358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46.3%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5830823"/>
            <a:ext cx="482803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95744" y="5867399"/>
            <a:ext cx="471830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Highest volume + centrality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010656"/>
            <a:ext cx="484632" cy="170687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" y="6047232"/>
            <a:ext cx="37490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6010656"/>
            <a:ext cx="3502152" cy="170687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6047232"/>
            <a:ext cx="339242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Experian Information Solutions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6010656"/>
            <a:ext cx="1307592" cy="170687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98264" y="6047232"/>
            <a:ext cx="119786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0.7187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6010656"/>
            <a:ext cx="1353312" cy="170687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24144" y="6047232"/>
            <a:ext cx="124358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33.4%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6010656"/>
            <a:ext cx="4828032" cy="170687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95744" y="6047232"/>
            <a:ext cx="471830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Very high volume + breadth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190488"/>
            <a:ext cx="48463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" y="6227064"/>
            <a:ext cx="37490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6190488"/>
            <a:ext cx="350215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6227064"/>
            <a:ext cx="339242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EQUIFAX, INC. 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6190488"/>
            <a:ext cx="130759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98264" y="6227064"/>
            <a:ext cx="119786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0.6825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0" y="6190488"/>
            <a:ext cx="135331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24144" y="6227064"/>
            <a:ext cx="124358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4.3%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6190488"/>
            <a:ext cx="482803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95744" y="6227064"/>
            <a:ext cx="471830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CRITICAL relief deficit — 10× below peers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6370320"/>
            <a:ext cx="484632" cy="170687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" y="6406896"/>
            <a:ext cx="37490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" y="6370320"/>
            <a:ext cx="3502152" cy="170687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406896"/>
            <a:ext cx="339242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TD Bank US Holding Company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43400" y="6370320"/>
            <a:ext cx="1307592" cy="170687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98264" y="6406896"/>
            <a:ext cx="119786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0.4631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0" y="6370320"/>
            <a:ext cx="1353312" cy="170687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24144" y="6406896"/>
            <a:ext cx="124358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45.7%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40880" y="6370320"/>
            <a:ext cx="4828032" cy="170687"/>
          </a:xfrm>
          <a:prstGeom prst="rect">
            <a:avLst/>
          </a:prstGeom>
          <a:solidFill>
            <a:srgbClr val="FFFFFF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95744" y="6406896"/>
            <a:ext cx="471830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High issue breadth (150/170)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6550152"/>
            <a:ext cx="48463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4904" y="6586728"/>
            <a:ext cx="37490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6B"/>
                </a:solidFill>
                <a:latin typeface="Calibri"/>
              </a:rPr>
              <a:t>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" y="6550152"/>
            <a:ext cx="350215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" y="6586728"/>
            <a:ext cx="339242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U.S. Bancorp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43400" y="6550152"/>
            <a:ext cx="130759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98264" y="6586728"/>
            <a:ext cx="119786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0.4365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6550152"/>
            <a:ext cx="135331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24144" y="6586728"/>
            <a:ext cx="124358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41.8%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40880" y="6550152"/>
            <a:ext cx="4828032" cy="170687"/>
          </a:xfrm>
          <a:prstGeom prst="rect">
            <a:avLst/>
          </a:prstGeom>
          <a:solidFill>
            <a:srgbClr val="E8F4FD"/>
          </a:solidFill>
          <a:ln w="381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95744" y="6586728"/>
            <a:ext cx="4718304" cy="7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High breadth (162/170)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Results Summary — All 5 Components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ComplaintScope delivers five distinct tiers of actionable regulatory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194560" cy="5230368"/>
          </a:xfrm>
          <a:prstGeom prst="rect">
            <a:avLst/>
          </a:prstGeom>
          <a:solidFill>
            <a:srgbClr val="E8F4FD"/>
          </a:solidFill>
          <a:ln w="254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2194560" cy="475488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252728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FFFFF"/>
                </a:solidFill>
                <a:latin typeface="Calibri"/>
              </a:rPr>
              <a:t>Component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755648"/>
            <a:ext cx="20299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3B6B"/>
                </a:solidFill>
                <a:latin typeface="Calibri"/>
              </a:rPr>
              <a:t>Product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2487168"/>
            <a:ext cx="2029968" cy="36576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578608"/>
            <a:ext cx="202996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3B6B"/>
                </a:solidFill>
                <a:latin typeface="Calibri"/>
              </a:rPr>
              <a:t>Macro-F1 = 0.7394
Accuracy = 87.43%
95% CI [0.708, 0.767]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4224528"/>
            <a:ext cx="2029968" cy="36576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4315968"/>
            <a:ext cx="2029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7D"/>
                </a:solidFill>
                <a:latin typeface="Calibri"/>
              </a:rPr>
              <a:t>9-class triage, LinearSVC
Statistical sig. p&lt;10⁻¹¹⁸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234440"/>
            <a:ext cx="2194560" cy="5230368"/>
          </a:xfrm>
          <a:prstGeom prst="rect">
            <a:avLst/>
          </a:prstGeom>
          <a:solidFill>
            <a:srgbClr val="E8F4FD"/>
          </a:solidFill>
          <a:ln w="2540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51760" y="1234440"/>
            <a:ext cx="2194560" cy="475488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1252728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FFFFF"/>
                </a:solidFill>
                <a:latin typeface="Calibri"/>
              </a:rPr>
              <a:t>Component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1755648"/>
            <a:ext cx="20299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5F9E"/>
                </a:solidFill>
                <a:latin typeface="Calibri"/>
              </a:rPr>
              <a:t>Relief-Risk Prediction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487168"/>
            <a:ext cx="2029968" cy="36576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578608"/>
            <a:ext cx="202996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3B6B"/>
                </a:solidFill>
                <a:latin typeface="Calibri"/>
              </a:rPr>
              <a:t>PR-AUC = 0.3865
Lift@5% = 1.41×
Recall@20% = 24.48%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4224528"/>
            <a:ext cx="2029968" cy="36576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4315968"/>
            <a:ext cx="2029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7D"/>
                </a:solidFill>
                <a:latin typeface="Calibri"/>
              </a:rPr>
              <a:t>Text LR champion
Calibrated probabilities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79" y="1234440"/>
            <a:ext cx="2194560" cy="5230368"/>
          </a:xfrm>
          <a:prstGeom prst="rect">
            <a:avLst/>
          </a:prstGeom>
          <a:solidFill>
            <a:srgbClr val="E8F4FD"/>
          </a:solidFill>
          <a:ln w="254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3479" y="1234440"/>
            <a:ext cx="2194560" cy="475488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19" y="1252728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FFFFF"/>
                </a:solidFill>
                <a:latin typeface="Calibri"/>
              </a:rPr>
              <a:t>Component 3a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19" y="1755648"/>
            <a:ext cx="20299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3B6B"/>
                </a:solidFill>
                <a:latin typeface="Calibri"/>
              </a:rPr>
              <a:t>Topic Discovery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19" y="2487168"/>
            <a:ext cx="2029968" cy="36576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19" y="2578608"/>
            <a:ext cx="202996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3B6B"/>
                </a:solidFill>
                <a:latin typeface="Calibri"/>
              </a:rPr>
              <a:t>C_V = 0.5009
16 Themes @ k=16
Diversity = 0.7312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19" y="4224528"/>
            <a:ext cx="2029968" cy="36576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19" y="4315968"/>
            <a:ext cx="2029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7D"/>
                </a:solidFill>
                <a:latin typeface="Calibri"/>
              </a:rPr>
              <a:t>LDA &gt; NMF &gt; K-Means
Ground-truth validated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199" y="1234440"/>
            <a:ext cx="2194560" cy="5230368"/>
          </a:xfrm>
          <a:prstGeom prst="rect">
            <a:avLst/>
          </a:prstGeom>
          <a:solidFill>
            <a:srgbClr val="E8F4FD"/>
          </a:solidFill>
          <a:ln w="2540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199" y="1234440"/>
            <a:ext cx="2194560" cy="475488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1252728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FFFFF"/>
                </a:solidFill>
                <a:latin typeface="Calibri"/>
              </a:rPr>
              <a:t>Component 3b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1755648"/>
            <a:ext cx="20299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5F9E"/>
                </a:solidFill>
                <a:latin typeface="Calibri"/>
              </a:rPr>
              <a:t>Burst Detection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2487168"/>
            <a:ext cx="2029968" cy="36576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2578608"/>
            <a:ext cx="202996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3B6B"/>
                </a:solidFill>
                <a:latin typeface="Calibri"/>
              </a:rPr>
              <a:t>CUSUM F1 = 0.8000
+2–3 months lead
Z-Score P = 100%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4224528"/>
            <a:ext cx="2029968" cy="36576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315968"/>
            <a:ext cx="2029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7D"/>
                </a:solidFill>
                <a:latin typeface="Calibri"/>
              </a:rPr>
              <a:t>Dual-engine: Z-Score + CUSUM
5 proxy validations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6919" y="1234440"/>
            <a:ext cx="2194560" cy="5230368"/>
          </a:xfrm>
          <a:prstGeom prst="rect">
            <a:avLst/>
          </a:prstGeom>
          <a:solidFill>
            <a:srgbClr val="E8F4FD"/>
          </a:solidFill>
          <a:ln w="254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46919" y="1234440"/>
            <a:ext cx="2194560" cy="475488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59" y="1252728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FFFFF"/>
                </a:solidFill>
                <a:latin typeface="Calibri"/>
              </a:rPr>
              <a:t>Comps. 4–5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59" y="1755648"/>
            <a:ext cx="20299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3B6B"/>
                </a:solidFill>
                <a:latin typeface="Calibri"/>
              </a:rPr>
              <a:t>Network + SRI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38359" y="2487168"/>
            <a:ext cx="2029968" cy="36576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8359" y="2578608"/>
            <a:ext cx="202996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3B6B"/>
                </a:solidFill>
                <a:latin typeface="Calibri"/>
              </a:rPr>
              <a:t>Q = 0.2568, p&lt;0.001
3 Communities
Top SRI = 0.7819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38359" y="4224528"/>
            <a:ext cx="2029968" cy="36576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38359" y="4315968"/>
            <a:ext cx="2029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7D"/>
                </a:solidFill>
                <a:latin typeface="Calibri"/>
              </a:rPr>
              <a:t>Louvain + Dirichlet robustness
τ = 0.6374 sensitivity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6473952"/>
            <a:ext cx="1156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3B6B"/>
                </a:solidFill>
                <a:latin typeface="Calibri"/>
              </a:rPr>
              <a:t>Full Reproducibility: Global Seed = 42  |  20/20 pytest tests passing  |  &lt;10 MB artifacts  |  Zero external API dependencies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ComplaintScope delivers validated, deployable regulatory intelligence from raw financial complaint narratives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577840" cy="5230368"/>
          </a:xfrm>
          <a:prstGeom prst="rect">
            <a:avLst/>
          </a:prstGeom>
          <a:solidFill>
            <a:srgbClr val="E8F4FD"/>
          </a:solidFill>
          <a:ln w="1905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B6B"/>
                </a:solidFill>
                <a:latin typeface="Calibri"/>
              </a:rPr>
              <a:t>Key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✓  Rigorous temporal evaluation framework — exposed −20.13 pp concept drift gap that invalidates prior random-split literature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✓  Calibrated multi-task relief prediction with Lift@5% = 1.41× operational triage efficiency gain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✓  Integrated topic discovery + burst detection validated against independently-defined keyword ground truths (CUSUM-F1 = 0.80)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✓  Statistically validated institutional network communities (Q = 0.2568, p &lt; 0.001 vs. 100 null rewirings)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✓  5-dimension Composite SRI with Dirichlet robustness — identifies TransUnion, Experian &amp; Equifax as top systemic risks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✓  End-to-end reproducible pipeline: Seed=42, 20/20 tests, &lt;10MB artifacts, Streamlit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742432" cy="5230368"/>
          </a:xfrm>
          <a:prstGeom prst="rect">
            <a:avLst/>
          </a:prstGeom>
          <a:solidFill>
            <a:srgbClr val="E8F4FD"/>
          </a:solidFill>
          <a:ln w="19050">
            <a:solidFill>
              <a:srgbClr val="1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98448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F9E"/>
                </a:solidFill>
                <a:latin typeface="Calibri"/>
              </a:rPr>
              <a:t>Future Work 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830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→  Fine-tune FinBERT / LegalBERT on CFPB narratives for improved domain-specific classification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→  Online learning with ADWIN / Reservoir Sampling to adapt to temporal concept drift without full retraining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→  Causal inference (Double ML, IV regression) to identify what institutional practices cause low relief rates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→  Multilingual extension (Spanish, etc.) to improve coverage of underserved CFPB complaint populations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→  Dynamic temporal network snapshots (quarterly) to capture institutional risk trajectory over time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→  Deploy as CFPB API integration for real-time triage scoring and burst monitoring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Academic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7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4F0"/>
                </a:solidFill>
                <a:latin typeface="Calibri"/>
              </a:rPr>
              <a:t>26 peer-reviewed publications underpinning ComplaintScope's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C757D"/>
                </a:solidFill>
                <a:latin typeface="Calibri"/>
              </a:rPr>
              <a:t>CBS3009 | ComplaintScope | VIT Vellore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58064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[1]  Blei, Ng &amp; Jordan (2003). LDA. JMLR, 3, 993–1022.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[2]  Wang &amp; Manning (2012). Baselines &amp; Bigrams. ACL 2012.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[3]  Reimers &amp; Gurevych (2019). Sentence-BERT. EMNLP 2019.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[4]  Pedregosa et al. (2011). Scikit-learn. JMLR, 12.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[5]  Röder, Both &amp; Hinneburg (2015). Topic Coherence. WSDM.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[6]  Saito &amp; Rehmsmeier (2015). PR vs ROC. PLOS ONE.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[7]  Joachims (1998). Text Classification with SVM. ECML.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[8]  Newman (2006). Modularity in Networks. PNAS.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[9]  Blondel et al. (2008). Louvain Algorithm. J.Stat.Mech.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[10] Battiston et al. (2012). DebtRank. Scientific Reports.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[11] Kleinberg (2003). Bursty Streams. DMKD.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[12] Montgomery (2019). Statistical Quality Control (8th ed.).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[13] Niculescu-Mizil &amp; Caruana (2005). Good Probabilities. ICML.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61872"/>
            <a:ext cx="55778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[14] Araci (2019). FinBERT. arXiv:1908.10063.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[15] Chalkidis et al. (2020). LEGAL-BERT. EMNLP Findings.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[16] Lancichinetti &amp; Fortunato (2010). Community Detection. PRE.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[17] Lee &amp; Seung (1999). NMF. Nature, 401.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[18] Efron (1979). Bootstrap Methods. Ann. Statistics.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[19] Gebru et al. (2021). Datasheets for Datasets. CACM.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[20] McNemar (1947). Paired Proportions Test. Psychometrika.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[21] Kogan et al. (2009). Financial Reports. NAACL-HLT.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[22] Hagberg et al. (2008). NetworkX. SciPy.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[23] Honnibal &amp; Montani (2017). spaCy 2. NLP.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[24] Řehůřek &amp; Sojka (2010). Gensim. LREC.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[25] Leskovec et al. (2009). Meme-Tracking. KDD.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  <a:latin typeface="Calibri"/>
              </a:rPr>
              <a:t>[26] CFPB. (2023). Consumer Complaint Database. CFPB.gov.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88952" cy="64008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3B6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757D"/>
                </a:solidFill>
                <a:latin typeface="Calibri"/>
              </a:rPr>
              <a:t>Ruhaan Bansal (23BBS0046)  |  Vedant Rajesh (23BBS0037)  |  Anish Desai (23BBS0119)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C757D"/>
                </a:solidFill>
                <a:latin typeface="Calibri"/>
              </a:rPr>
              <a:t>CBS3009 — Advanced Social, Text and Media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114800"/>
            <a:ext cx="8531352" cy="45720"/>
          </a:xfrm>
          <a:prstGeom prst="rect">
            <a:avLst/>
          </a:prstGeom>
          <a:solidFill>
            <a:srgbClr val="23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10360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3B6B"/>
                </a:solidFill>
                <a:latin typeface="Calibri"/>
              </a:rPr>
              <a:t>📦  19,998 CFPB narratives  |  2018–2023  |  CC0 Public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18888"/>
            <a:ext cx="10360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3B6B"/>
                </a:solidFill>
                <a:latin typeface="Calibri"/>
              </a:rPr>
              <a:t>🏆  Test Macro-F1 = 0.7394  |  Lift@5% = 1.41×  |  AUC-PR = 0.3865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94376"/>
            <a:ext cx="10360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3B6B"/>
                </a:solidFill>
                <a:latin typeface="Calibri"/>
              </a:rPr>
              <a:t>🔍  LDA k=16, C_V = 0.5009  |  CUSUM F1 = 0.80  |  2–3 months lead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9864"/>
            <a:ext cx="10360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3B6B"/>
                </a:solidFill>
                <a:latin typeface="Calibri"/>
              </a:rPr>
              <a:t>🕸️  Q = 0.2568, p &lt; 0.001  |  Top SRI = 0.7819 (TransUnion)  |  3 Communities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45352"/>
            <a:ext cx="10360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3B6B"/>
                </a:solidFill>
                <a:latin typeface="Calibri"/>
              </a:rPr>
              <a:t>✅  20/20 pytest tests pass  |  Seed = 42  |  Fully reproducible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