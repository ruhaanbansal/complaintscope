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COMPLAINTSCOPE</a:t>
            </a:r>
          </a:p>
          <a:p>
            <a:pPr>
              <a:spcBef>
                <a:spcPts val="1200"/>
              </a:spcBef>
              <a:defRPr sz="2000">
                <a:solidFill>
                  <a:srgbClr val="F1F5F9"/>
                </a:solidFill>
              </a:defRPr>
            </a:pPr>
            <a:r>
              <a:t>An End-to-End Text, Topic &amp; Network Analytics System for Consumer-Complaint Triage and Systemic Risk Early Warning</a:t>
            </a:r>
          </a:p>
          <a:p>
            <a:pPr>
              <a:spcBef>
                <a:spcPts val="2800"/>
              </a:spcBef>
              <a:defRPr sz="1400">
                <a:solidFill>
                  <a:srgbClr val="94A3B8"/>
                </a:solidFill>
              </a:defRPr>
            </a:pPr>
            <a:r>
              <a:t>Course: CBS3009 – Advanced Social, Text and Media Analytics | Term: Fall 2026</a:t>
            </a:r>
          </a:p>
          <a:p>
            <a:pPr>
              <a:spcBef>
                <a:spcPts val="1200"/>
              </a:spcBef>
              <a:defRPr sz="1400" b="1">
                <a:solidFill>
                  <a:srgbClr val="FB923C"/>
                </a:solidFill>
              </a:defRPr>
            </a:pPr>
            <a:r>
              <a:t>Team Members: Ruhaan Bansal (23BBS0046) | Vedant Rajesh (23BBS0037) | Anish Desai (23BBS0119)</a:t>
            </a:r>
            <a:br/>
            <a:r>
              <a:t>Faculty Guide: Prof. Sathish Kumar K | School of Computer Science &amp; Engineering | VIT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1. INTRODUCTION &amp; MOTIVATION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Problem Context &amp; Operational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1. The Triage Bottleneck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CFPB receives &gt;8M consumer complaints, with thousands of detailed narratives daily.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Manual complaint routing to product divisions is slow, costly, and inconsistent.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Automated multi-class classification is required for real-time operational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2. The Relief-Risk Gap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Only 16.3% of complaints result in monetary or non-monetary consumer relief.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Regulatory caseworkers lack probabilistic risk scoring to prioritize investigations.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Triage queue optimization can yield massive efficiency gains via high-precision Lift@k.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3. Early Warning &amp; Network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Emerging systemic crises (e.g., COVID forbearance) emerge in narratives months early.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Keyword bursts precede formal regulatory enforcement by 2-3 months.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Cross-institutional complaint networks expose systemic financial hazard clusters.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SYSTEM OVERVIEW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ComplaintScope 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5 Core Analytical Components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Component 1 (Phase 4): 9-Class Product Classification Suite across 7 models with bootstrap CIs.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Component 2 (Phase 5): Imbalance-Aware Consumer Relief Risk Prediction &amp; Queue Simulation.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Component 3a (Phase 6): Unsupervised Topic Discovery (LDA vs NMF vs KMeans) with coherence sweep.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Component 3b (Phase 7): Dual-Detector Emerging Issue Detection (Z-Score + EWMA-CUSUM).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Component 4 &amp; 5 (Phases 8-9): Bipartite Network Projection, Louvain Communities &amp; Systemic Risk Index (SRI).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Engineering Rigor &amp; Delivery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Chronological Splits (70/15/15): Strict calendar date partitions to prevent lookahead leakage.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Train-Only Vocabulary: 30K sublinear TF-IDF + 384-dim all-MiniLM-L6-v2 embeddings.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Empirical Preprocessing Ablation: 7 configurations evaluated on validation split.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Full Reproducibility: 19/19 pytest suite passes, clean-state seeds, zero fabricated metrics.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Streamlit Dashboard: 5-page interactive web app loaded from self-contained &lt;10MB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3. DATASET &amp; GOVERNANCE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Data Provenance, Filtering &amp; Chronological Splits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Corpus Provenance &amp; Filtering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Source: CFPB Consumer Complaint Database (CC0 1.0 Public Domain).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Hugging Face mirror archive (SHA-256 verified in data_provenance.json).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Strict filtering funnel: narratives &gt;= 20 words, 131,442 duplicates removed.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Harmonized from fragmented multi-year taxonomy to 9 consolidated classes.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Final sampled modeling corpus: 19,998 narrative complaints spanning 2018–2023.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Anti-Leakage Chronological Partitions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Train (70%): 13,983 complaints (2018-07-19 to 2022-03-17).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Validation (15%): 2,999 complaints (2022-03-18 to 2022-08-12).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Test (15%): 3,016 complaints (2022-08-13 to 2023-01-26).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Zero boundary crossover verified by tests/test_splits_no_leakage.py.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Simulates true production deployment against temporal concept drift.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4. EXPLORATORY DATA ANALYSIS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Exploratory Data Analysis &amp; Empirical Insights</a:t>
            </a:r>
          </a:p>
        </p:txBody>
      </p:sp>
      <p:pic>
        <p:nvPicPr>
          <p:cNvPr id="4" name="Picture 3" descr="fig_03_produc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Key Distributional Observations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Class Imbalance: Credit reporting represents &gt;60% of narrative complaints, reflecting widespread credit file dispute automation.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Long-Tail Products: Student loans, vehicle loans, and money transfers constitute specialized low-frequency categories.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Relief Rate Skew: Extreme variation across products—checking account complaints achieve highest relief rates; credit reporting lowest.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Narrative Length: Median narrative length is 162 words; heavy right-skew with complex grievances exceeding 1,000 words.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Temporal Volatility: Complaint volume surged during 2020-2021 pandemic relief periods.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5. NLP PREPROCESSING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Text Preprocessing &amp; Controlled Ablation Study</a:t>
            </a:r>
          </a:p>
        </p:txBody>
      </p:sp>
      <p:pic>
        <p:nvPicPr>
          <p:cNvPr id="4" name="Picture 3" descr="fig_nb0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7-Configuration Ablation Results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Empirical ablation executed on 3,000 train / 1,000 validation split: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No Redaction Handling (delete): 0.5140 Macro-F1 (champion; removes uninformative mask tokens).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Baseline (placeholders): 0.4991 Macro-F1.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No Negation Preservation: 0.4976 Macro-F1 (dropping negations inverts dispute sentiment).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No Lemmatization: 0.4635 Macro-F1 (severe 3.56% drop; proves inflectional unification is vital).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No Stopword Removal: 0.4236 Macro-F1 (catastrophic 7.55% collapse due to legal filler).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Minimal (raw lowercase): 0.4203 Macro-F1 (confirms need for full NLP pipeline).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6. FEATURE REPRESENTATION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Feature Engineering: Sparse, Dense &amp; Retrieval Spaces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Sparse &amp; Dense Representations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Bag-of-Words &amp; Sublinear TF-IDF: 30,000 vocab, 1-2 grams, min_df=3, sublinear scaling tf=1+log(tf).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Fitted exclusively on train split to prevent vocabulary leakage.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Zipf Distribution: Sublinear TF scaling dampens hyper-frequent legal jargon tokens.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Dense Transformer Embeddings: sentence-transformers/all-MiniLM-L6-v2 (384 dimensions, L2-normalized).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Cached as .npy arrays: train (13,983x384), val (2,999x384), test (3,016x384).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Semantic Neighborhood (kNN Retrieval)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Cosine kNN evaluated on validation embeddings confirms strong semantic clustering: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Precision@1 = 80.2% label agreement.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Precision@3 = 91.9% label agreement.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Precision@5 = 94.3% label agreement.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Precision@10 = 96.7% label agreement.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Demonstrates high semantic density suitable for downstream zero-shot retrieval.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7. COMPONENT 1 - CLASSIFICATION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Component 1: Product Classification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Benchmark Results (Holdout Test Split)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LinearSVC (calibrated): Test Macro-F1 = 0.7394, Accuracy = 87.43%, 95% CI [0.708, 0.767].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LogisticRegression (tuned): Test Macro-F1 = 0.7319, Accuracy = 87.27%, 95% CI [0.698, 0.761].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MiniLM-L6 + LR: Test Macro-F1 = 0.7002, Accuracy = 85.68%, 95% CI [0.668, 0.730].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LogisticRegression (default): Test Macro-F1 = 0.7054, Accuracy = 87.30%.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ComplementNB: Test Macro-F1 = 0.6457, Accuracy = 85.48%.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MultinomialNB: Test Macro-F1 = 0.6218, Accuracy = 84.85%.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DecisionTree (depth=10): Test Macro-F1 = 0.4765, Accuracy = 77.25%.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Dummy (majority): Test Macro-F1 = 0.0873, Accuracy = 64.69%.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Statistical Significance &amp; Tuning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Hyperparameter Tuning: Grid search on validation split over C in [0.01..10.0] and solver [lbfgs, saga].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Champion Architecture: LinearSVC with Platt calibration provides optimal decision boundaries.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McNemar's Hypothesis Test: LinearSVC vs Majority Baseline: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Chi-squared statistic = 535.64, p-value = 1.67e-118.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Proves statistical superiority beyond any chance threshold (p &lt; 0.001).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8. CLASSIFICATION ANALYSIS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Temporal Concept Drift &amp; Error Taxonomy</a:t>
            </a:r>
          </a:p>
        </p:txBody>
      </p:sp>
      <p:pic>
        <p:nvPicPr>
          <p:cNvPr id="4" name="Picture 3" descr="fig10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AQ3 Drift &amp; Error Taxonomy Findings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AQ3 Temporal Concept Drift: Model evaluated on random test split achieves Macro-F1 = 0.9330.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On strict chronological test split, Macro-F1 drops to 0.7317 (Delta = -0.2013, 20.1% degradation!).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Confirms that non-chronological cross-validation severely overestimates production performance.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Error Taxonomy Audit (60 sampled errors, 12.57% test error rate):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 Confusion: Credit reporting vs Debt collection (disputes against reporting collection agencies).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Second Confusion: Checking/savings accounts vs Credit cards (debit transaction card claims).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9. COMPONENT 2 - RELIEF RISK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Component 2: Consumer Relief-Risk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Problem Setup &amp; Metrics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Binary Objective: Predict whether an incoming narrative will result in monetary or non-monetary relief.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Severe Class Imbalance: 16.3% positive base rate in training split (class weight = 5.15).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ROC-AUC is uninformative under heavy skew; evaluation prioritizes PR-AUC, Brier score, and Lift@k.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Model Suite: Prior-rate baseline, Text LR, Text+Metadata LR, HistGradientBoosting (dense SVD+OHE).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Champion: Text Logistic Regression achieves PR-AUC = 0.3865, ROC-AUC = 0.6063, Brier = 0.2316.</a:t>
            </a:r>
          </a:p>
        </p:txBody>
      </p:sp>
      <p:pic>
        <p:nvPicPr>
          <p:cNvPr id="6" name="Picture 5" descr="fig12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10. RELIEF TRIAGE SIMULATION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Operational Triage Queue Simulation &amp; Lift@k</a:t>
            </a:r>
          </a:p>
        </p:txBody>
      </p:sp>
      <p:pic>
        <p:nvPicPr>
          <p:cNvPr id="4" name="Picture 3" descr="fig13_triage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Measurable Caseworker Yield Gains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Random Review Baseline: 16.3% positive relief cases.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 5% Priority Queue: Precision@5% = 44.67% (Lift = 1.41x base rate).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 10% Priority Queue: Precision@10% = 42.86% (Lift = 1.35x base rate).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 20% Priority Queue: Precision@20% = 38.81% (Lift = 1.22x base rate).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Operational Value: Regulatory caseworkers inspecting top 20% ranked complaints capture 24.5% of all relief cases.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Yields a 41% higher investigative efficiency at top ranks compared to unprioritized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11. ETHICAL &amp; FAIRNESS AUDIT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Fairness Slices &amp; Company Leakage Ablation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Demographic &amp; Channel Slices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Evaluated PR-AUC across 14 demographic, submission channel, and geographic groups.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Channels: Web, Referral, and Phone show consistent probability calibration (PR-AUC 0.37 - 0.40).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Tags: Servicemembers and Older Americans exhibit comparable predictive yield.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Geographic Variation: States with heavy credit reporting volume show slight baseline shifts.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Model avoids disparate impact across channels while preserving triage ranking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Company Feature Leakage Ablation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Ablation Experiment: Included institutional identity (company ID) in relief feature space.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Result: Test PR-AUC degraded from 0.3865 down to 0.3700.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Analytical Root Cause: Institutional dispute practices change across quarters; company OHE memorizes past settlement behavior.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Conclusion: Relying purely on narrative text yields superior generalizability and prevents institutional bias.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12. COMPONENT 3A - TOPIC DISCOVERY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Component 3a: Latent Topic Discovery &amp; Coherence Sweep</a:t>
            </a:r>
          </a:p>
        </p:txBody>
      </p:sp>
      <p:pic>
        <p:nvPicPr>
          <p:cNvPr id="4" name="Picture 3" descr="fig14_lda_coherenc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Multi-Model Sweep &amp; Selection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Evaluated LDA (gensim), NMF (sklearn), and K-Means on dense embeddings across k in [8, 12, 16, 20, 24].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LDA Coherence c_v: k=8 (0.4701), k=12 (0.4950), k=16 (0.5009), k=20 (0.4682), k=24 (0.4643).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Champion: LDA at k=16 delivers optimal semantic coherence (c_v = 0.5009) with high topic diversity (0.7312).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NMF delivered high diversity at low k but lacked document mixture probabilities.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K-Means produced low silhouette scores (0.021 - 0.026), demonstrating non-spherical embedding manifold.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13. TOPIC TAXONOMY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Topic Taxonomy &amp; Cross-Product Heatmap</a:t>
            </a:r>
          </a:p>
        </p:txBody>
      </p:sp>
      <p:pic>
        <p:nvPicPr>
          <p:cNvPr id="4" name="Picture 3" descr="fig15_topic_produc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Interpretable Complaint Themes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16 Granular Discovered Clusters (sample):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Topic 0: Credit file dispute documentation (credit, report, account, dispute, bureau).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Topic 1: Debt collection harassment &amp; validation calls (debt, collection, agency, validate).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Topic 3: Mortgage escrow &amp; CARES Act forbearance (mortgage, loan, payment, modification).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Topic 6: Checking account overdraft fees &amp; unauthorized charges (account, bank, fee, overdraft).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Topic 9: Identity theft &amp; fraudulent trade lines (identity, theft, fraud, police).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Heatmap shows sharp concentration for loan products and broad dispersion for credit reporting.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14. COMPONENT 3B - BURST DETECTION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Component 3b: Dual-Detector Burst Detection</a:t>
            </a:r>
          </a:p>
        </p:txBody>
      </p:sp>
      <p:pic>
        <p:nvPicPr>
          <p:cNvPr id="4" name="Picture 3" descr="fig16_topic_burst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Dual Anomaly Detection Framework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Time Series: Monthly prevalence computed across 2018–2023 (691 topic-month observations).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Detector 1 - Rolling Z-Score: Trailing 12-month baseline, threshold z &gt; 2.0 flags sharp abrupt shocks.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Detector 2 - EWMA-CUSUM: Exponential smoothing (span=6, threshold=1.5sigma) tracks cumulative structural drift.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Complementary Roles: Z-score prevents false alarms for high-volatility topics; CUSUM catches gradual policy changes.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Automated alerts trigger regulatory early warning before grievance volume peaks.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15. PROXY VALIDATION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Independent Keyword Proxy Validation &amp; Case Studies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Pre-Registered Proxy Validation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5 Independent Keyword Proxies committed before analysis: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covid_relief: Z-Precision = 66.7%, CUSUM-F1 = 0.7568 (+2 months lead-time).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overdraft_fee: Z-Precision = 100.0%, CUSUM-F1 = 0.2500 (zero false alarms).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credit_reporting: Z-Precision = 40.0%, CUSUM-F1 = 0.7027 (long-term drift).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debt_collection: Z-Precision = 57.1%, CUSUM-F1 = 0.7500 (Regulation F lead).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mortgage_forbearance: Z-Precision = 100.0%, CUSUM-F1 = 0.8000 (+3 months lead-time).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Historical Case Study: CARES Act 2020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COVID-19 Pandemic Impact (Spring 2020):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Complaint narratives mentioning 'forbearance' and 'CARES Act' surged in March-April 2020.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EWMA-CUSUM detector flagged a structural burst 2 full months before CFPB published guidance.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Demonstrates the system's ability to provide proactive regulatory intelligence.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16. COMPONENT 4 - NETWORK ANALYSIS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Component 4: Bipartite Network Construction &amp; Projection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Bipartite Graph Topology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Constructed from 75,836 full-corpus aggregation records.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Bipartite Graph: 2,502 financial institutions x 170 complaint issue categories.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Total Weighted Edges: 18,204 edges representing complaint counts.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Captures the multi-dimensional grievance footprint of the entire US consumer finance sector.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Cosine Similarity Company Projection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Projected onto top 100 institutions by volume using cosine similarity of 170-dim issue profiles.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Edge Threshold &gt;= 0.1 yields a dense network of 100 nodes and 3,774 weighted edges.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Centrality Metrics: Degree, weighted degree, betweenness, closeness, and eigenvector.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 Weighted Degree: Pentagon Federal Credit Union (51.56), TD Bank (49.26), Capital One (49.16).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17. COMMUNITY STRUCTURE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Louvain Community Detection &amp; Hypothesis Testing</a:t>
            </a:r>
          </a:p>
        </p:txBody>
      </p:sp>
      <p:pic>
        <p:nvPicPr>
          <p:cNvPr id="4" name="Picture 3" descr="fig17_compan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Empirical Community Structure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Louvain Algorithm detected 3 distinct institutional communities: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Community 0: Credit Bureaus &amp; Consumer Reporting (Equifax, Experian, TransUnion, automated credit builders).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Community 1: Depository Banks &amp; Retail Lending (Capital One, TD Bank, Chase, Bank of America).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Community 2: Mortgage Servicers &amp; Specialty Lenders (Nationstar, PHH, specialized loan servicers).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Null Model Hypothesis Test: 100 degree-preserving randomized rewirings.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Observed Modularity Q = 0.2568 vs Null Mean Q = 0.0671 (p &lt; 0.001; empirical p = 0.0).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Proves non-random, statistically significant structural specialization in the financial ecosystem.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18. SYSTEMIC BREADTH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Systemic Issue Breadth vs. Firm-Specific Hazard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Universal Systemic Giants (High Breadth)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Wells Fargo &amp; Company: 168 unique issues (breadth score = 1.0000).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JPMorgan Chase &amp; Co.: 167 unique issues (breadth score = 0.9940).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Bank of America, NA: 163 unique issues (breadth score = 0.9702).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U.S. Bancorp: 162 unique issues (breadth score = 0.9643).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Citibank, N.A.: 159 unique issues (breadth score = 0.9464).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Regulatory Takeaway: Broad-spectrum institutions suffer cross-cutting compliance issues spanning retail banking, loans, cards, and debt.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Concentrated Specialty Institutions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Credit Reporting Bureaus: Very high complaint volume, but concentrated in 110-123 issues.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Specialty Debt Collectors: Restricted to 20-40 debt validation and communication categories.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FinTech Lenders: Concentrated in virtual card, installment loan, and buy-now-pay-later disputes.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Regulatory Takeaway: Niche hazard requires product-targeted enforcement rather than broad banking supervision.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19. COMPONENT 5 - SRI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Component 5: Systemic Risk Index (SRI) Leaderboard</a:t>
            </a:r>
          </a:p>
        </p:txBody>
      </p:sp>
      <p:pic>
        <p:nvPicPr>
          <p:cNvPr id="4" name="Picture 3" descr="fig18_systemic_risk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Top 5 Systemic Risk Leaderboard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SRI = 0.25*Vol + 0.20*Relief + 0.20*Breadth + 0.20*Centrality + 0.15*Burst.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1. TRANSUNION INTERMEDIATE HOLDINGS: SRI = 0.7819 (Rank 1).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2. Experian Information Solutions: SRI = 0.7187 (Rank 2).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3. EQUIFAX, INC.: SRI = 0.6825 (Rank 3).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4. TD BANK US HOLDING COMPANY: SRI = 0.4631 (Rank 4).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5. U.S. BANCORP: SRI = 0.4365 (Rank 5).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Critical Finding: Equifax exhibits a severe relief rate deficit—only 4.3% relief rate vs 46.3% for TransUnion and 33.4% for Experian!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20. REGULATORY INSIGHTS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Sensitivity Analysis &amp; Actionable Interventions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Dirichlet Sensitivity Robustness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Tested 100 random Dirichlet weight perturbations across the 5 dimensions.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Mean Kendall's Rank Correlation: tau = 0.6374 (sigma = 0.2321).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Top-3 Credit Bureaus remained in ranks 1-3 in &gt;94% of all weighting configurations.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Confirms SRI provides stable, robust institutional rankings resilient to regulatory preference shifts.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4 Actionable Supervisory Directives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Directive 1: Targeted supervisory audits on credit reporting bureaus (drive &gt;70% of total volume).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Directive 2: Enforcement investigation of Equifax's 4.3% relief rate outlier.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Directive 3: Firm-wide compliance reviews for universal giants (Wells Fargo, Chase).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Directive 4: Deploy EWMA-CUSUM topic monitoring for 2-3 month early warning on fee/forbearance surges.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21. DEPLOYMENT &amp; SUMMARY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Dashboard Deployment &amp; Project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Streamlit Production Dashboard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5 Integrated Views in app/streamlit_app.py: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1. Overview: System architecture, KPI cards, figure gallery.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2. Complaint Triage: Real-time product classification &amp; relief risk prediction.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3. Topic Explorer: Interactive LDA/NMF topics, keyword search &amp; bursts.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4. Network Viewer: Interactive Pyvis graph and centralities.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5. SRI Ranking: Institutional leaderboard and sensitivity audits.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Self-contained: Loads all artifacts in &lt;10MB without raw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Engineering &amp; Scientific Summary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19,998 narratives analyzed across 2018–2023 with strict chronological splits.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Best Product Classifier: LinearSVC (Test Macro-F1 = 0.7394, Acc = 87.4%).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Relief Predictor: Text LR (PR-AUC = 0.3865, Lift@5% = 1.41x, 44.7% precision).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Latent Topics: LDA k=16 (Coherence c_v = 0.5009, Diversity = 0.7312).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Burst Detection: CUSUM F1 up to 0.8000; Z-Score Precision = 1.000.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Network &amp; SRI: 3 Louvain communities (p &lt; 0.001); Top 3 bureaus (SRI &gt; 0.68).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Full Reproducibility: 19/19 pytest tests pass in 9.2s. Zero fabricated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